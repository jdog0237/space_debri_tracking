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119DF2-A086-4046-A480-A401E39BBDF7}" v="4" dt="2026-05-12T16:14:35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36" d="100"/>
          <a:sy n="136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810B-39A2-C2E1-F28D-9317A686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44FA9-4EFD-D803-2D09-931B58781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3CFAA-F4D7-B3DE-F8EB-AD54E6504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92977-945B-739C-441F-8585CFC2202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9571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D642-5A4B-EEC9-E719-CDF9E0D0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C42A1-25E9-E1E4-D755-52770412B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3F5BE-78E2-65FC-C33A-AB31D9AD3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2D3A6-5C1B-AD49-BE78-98091D14A9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7331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F5BC73A-6352-4CEA-85A8-D00B9A4D00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B35F7-85F0-44EF-9180-03EA2D6AD441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D5F6F-75C5-443B-A95B-BDC5C812EA82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B87EF-08F3-45F1-B4B4-793D1E1F99E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D6D43-EA78-41D7-A912-7B62BF925718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60DAE-CE75-49FD-9A2F-FAFF4AC42A0A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F4D02A-ED57-48F4-B641-CFB014A5E45C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6C2341-1A25-45FA-B8E0-5E304034232D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72B58B-07F3-4523-8947-17D4090EE38A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D8577B-092C-428E-8915-B48802DD554B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72AAC-A79F-4C41-8B5B-4672CF0220A5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391D88-4E69-4892-BE43-8A3E739A2574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7D301C-6B2A-4AC5-96F4-6D4E1969C72A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72A065-10A5-4D18-86F2-40434B75A6CB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BE771-ACCC-45D3-80F7-3F2798EBC62C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1A0F13-B977-477E-9894-DBF286543C65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42A1BE-5D5A-4633-BF14-9D5DED1026CF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5D204D-4935-4B2A-9D68-705CB0A979AE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1-marker">
            <a:extLst>
              <a:ext uri="{FF2B5EF4-FFF2-40B4-BE49-F238E27FC236}">
                <a16:creationId xmlns:a16="http://schemas.microsoft.com/office/drawing/2014/main" id="{B1C9A6D5-6ED7-483A-B2D0-6CF4FCE3B278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1-label">
            <a:extLst>
              <a:ext uri="{FF2B5EF4-FFF2-40B4-BE49-F238E27FC236}">
                <a16:creationId xmlns:a16="http://schemas.microsoft.com/office/drawing/2014/main" id="{160FDC35-876E-4296-B541-24EE301800C9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7BDCB5"/>
                </a:solidFill>
                <a:latin typeface="Aptos"/>
                <a:ea typeface="Aptos"/>
                <a:cs typeface="Aptos"/>
              </a:rPr>
              <a:t>CS 4398 SPRING 2026</a:t>
            </a:r>
            <a:endParaRPr sz="975" b="1" dirty="0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8D86A-C31B-434F-873C-1C50D6061201}"/>
              </a:ext>
            </a:extLst>
          </p:cNvPr>
          <p:cNvSpPr>
            <a:spLocks noGrp="1"/>
          </p:cNvSpPr>
          <p:nvPr/>
        </p:nvSpPr>
        <p:spPr>
          <a:xfrm>
            <a:off x="685800" y="1690687"/>
            <a:ext cx="7705725" cy="143827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400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Space – Debris Tracking Application</a:t>
            </a:r>
            <a:endParaRPr sz="400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DDF653-9B2B-4021-BCD4-17F409F73289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7239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A dashboard that loads debris catalogs, applies constant-velocity screening, and turns encounter metrics into operator-readable alerts.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0DDEC4-22B1-4228-A940-2267B0DE0A2C}"/>
              </a:ext>
            </a:extLst>
          </p:cNvPr>
          <p:cNvSpPr>
            <a:spLocks noGrp="1"/>
          </p:cNvSpPr>
          <p:nvPr/>
        </p:nvSpPr>
        <p:spPr>
          <a:xfrm>
            <a:off x="8477250" y="857250"/>
            <a:ext cx="23812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405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D6EFCD-3C2A-4E10-8D36-E26E2D6D2157}"/>
              </a:ext>
            </a:extLst>
          </p:cNvPr>
          <p:cNvSpPr>
            <a:spLocks noGrp="1"/>
          </p:cNvSpPr>
          <p:nvPr/>
        </p:nvSpPr>
        <p:spPr>
          <a:xfrm>
            <a:off x="9467850" y="1847850"/>
            <a:ext cx="400050" cy="400050"/>
          </a:xfrm>
          <a:prstGeom prst="ellipse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F96480-5705-47FD-86A5-1C3142D67C21}"/>
              </a:ext>
            </a:extLst>
          </p:cNvPr>
          <p:cNvSpPr>
            <a:spLocks noGrp="1"/>
          </p:cNvSpPr>
          <p:nvPr/>
        </p:nvSpPr>
        <p:spPr>
          <a:xfrm>
            <a:off x="9505950" y="195262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SC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4C69F5-5F15-46C9-AF37-C20B45CA69F5}"/>
              </a:ext>
            </a:extLst>
          </p:cNvPr>
          <p:cNvSpPr>
            <a:spLocks noGrp="1"/>
          </p:cNvSpPr>
          <p:nvPr/>
        </p:nvSpPr>
        <p:spPr>
          <a:xfrm>
            <a:off x="8858250" y="1257300"/>
            <a:ext cx="190500" cy="190500"/>
          </a:xfrm>
          <a:prstGeom prst="ellipse">
            <a:avLst/>
          </a:prstGeom>
          <a:solidFill>
            <a:srgbClr val="EF6F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6C5BB1-0B38-4804-B1B8-26B4B5CC0F72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A6A2CB-B526-4429-92B4-E05968BEA731}"/>
              </a:ext>
            </a:extLst>
          </p:cNvPr>
          <p:cNvSpPr>
            <a:spLocks noGrp="1"/>
          </p:cNvSpPr>
          <p:nvPr/>
        </p:nvSpPr>
        <p:spPr>
          <a:xfrm>
            <a:off x="8953500" y="1352550"/>
            <a:ext cx="714375" cy="14288"/>
          </a:xfrm>
          <a:prstGeom prst="rect">
            <a:avLst/>
          </a:prstGeom>
          <a:solidFill>
            <a:srgbClr val="7085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34D466-93AF-4892-AA96-558782FFDEED}"/>
              </a:ext>
            </a:extLst>
          </p:cNvPr>
          <p:cNvSpPr>
            <a:spLocks noGrp="1"/>
          </p:cNvSpPr>
          <p:nvPr/>
        </p:nvSpPr>
        <p:spPr>
          <a:xfrm>
            <a:off x="10325100" y="1123950"/>
            <a:ext cx="190500" cy="190500"/>
          </a:xfrm>
          <a:prstGeom prst="ellipse">
            <a:avLst/>
          </a:prstGeom>
          <a:solidFill>
            <a:srgbClr val="F6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927A66-1A40-4CFA-BEA2-1C016914FCAF}"/>
              </a:ext>
            </a:extLst>
          </p:cNvPr>
          <p:cNvSpPr>
            <a:spLocks noGrp="1"/>
          </p:cNvSpPr>
          <p:nvPr/>
        </p:nvSpPr>
        <p:spPr>
          <a:xfrm>
            <a:off x="10229850" y="135255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F4DB8A-6E4C-4274-8830-56A3AA4D45FE}"/>
              </a:ext>
            </a:extLst>
          </p:cNvPr>
          <p:cNvSpPr>
            <a:spLocks noGrp="1"/>
          </p:cNvSpPr>
          <p:nvPr/>
        </p:nvSpPr>
        <p:spPr>
          <a:xfrm>
            <a:off x="9667875" y="1219200"/>
            <a:ext cx="752475" cy="14288"/>
          </a:xfrm>
          <a:prstGeom prst="rect">
            <a:avLst/>
          </a:prstGeom>
          <a:solidFill>
            <a:srgbClr val="7085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5B686A3-7E7A-4C82-9A6B-C3B78EEF0A46}"/>
              </a:ext>
            </a:extLst>
          </p:cNvPr>
          <p:cNvSpPr>
            <a:spLocks noGrp="1"/>
          </p:cNvSpPr>
          <p:nvPr/>
        </p:nvSpPr>
        <p:spPr>
          <a:xfrm>
            <a:off x="10668000" y="2724150"/>
            <a:ext cx="190500" cy="190500"/>
          </a:xfrm>
          <a:prstGeom prst="ellipse">
            <a:avLst/>
          </a:prstGeom>
          <a:solidFill>
            <a:srgbClr val="6AA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9DD264-EBEF-4653-B899-D8D7F8894309}"/>
              </a:ext>
            </a:extLst>
          </p:cNvPr>
          <p:cNvSpPr>
            <a:spLocks noGrp="1"/>
          </p:cNvSpPr>
          <p:nvPr/>
        </p:nvSpPr>
        <p:spPr>
          <a:xfrm>
            <a:off x="10572750" y="295275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D3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C91179-B4BF-4B91-A0A2-88B80B740F19}"/>
              </a:ext>
            </a:extLst>
          </p:cNvPr>
          <p:cNvSpPr>
            <a:spLocks noGrp="1"/>
          </p:cNvSpPr>
          <p:nvPr/>
        </p:nvSpPr>
        <p:spPr>
          <a:xfrm>
            <a:off x="9667875" y="2047875"/>
            <a:ext cx="1095375" cy="14288"/>
          </a:xfrm>
          <a:prstGeom prst="rect">
            <a:avLst/>
          </a:prstGeom>
          <a:solidFill>
            <a:srgbClr val="7085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F16D5C-0371-44C7-B55A-79DF22841E5A}"/>
              </a:ext>
            </a:extLst>
          </p:cNvPr>
          <p:cNvSpPr>
            <a:spLocks noGrp="1"/>
          </p:cNvSpPr>
          <p:nvPr/>
        </p:nvSpPr>
        <p:spPr>
          <a:xfrm>
            <a:off x="8667750" y="2647950"/>
            <a:ext cx="190500" cy="190500"/>
          </a:xfrm>
          <a:prstGeom prst="ellipse">
            <a:avLst/>
          </a:prstGeom>
          <a:solidFill>
            <a:srgbClr val="F5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3160EA-1D04-480C-955E-CA7B5F716E8C}"/>
              </a:ext>
            </a:extLst>
          </p:cNvPr>
          <p:cNvSpPr>
            <a:spLocks noGrp="1"/>
          </p:cNvSpPr>
          <p:nvPr/>
        </p:nvSpPr>
        <p:spPr>
          <a:xfrm>
            <a:off x="8572500" y="287655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D4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C77ADC-A475-4886-B50F-2E89F86834C6}"/>
              </a:ext>
            </a:extLst>
          </p:cNvPr>
          <p:cNvSpPr>
            <a:spLocks noGrp="1"/>
          </p:cNvSpPr>
          <p:nvPr/>
        </p:nvSpPr>
        <p:spPr>
          <a:xfrm>
            <a:off x="8763000" y="2047875"/>
            <a:ext cx="904875" cy="14288"/>
          </a:xfrm>
          <a:prstGeom prst="rect">
            <a:avLst/>
          </a:prstGeom>
          <a:solidFill>
            <a:srgbClr val="7085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9FA123C-4F6E-402A-AA8E-C47A6AA6E642}"/>
              </a:ext>
            </a:extLst>
          </p:cNvPr>
          <p:cNvSpPr>
            <a:spLocks noGrp="1"/>
          </p:cNvSpPr>
          <p:nvPr/>
        </p:nvSpPr>
        <p:spPr>
          <a:xfrm>
            <a:off x="9696450" y="3009900"/>
            <a:ext cx="190500" cy="190500"/>
          </a:xfrm>
          <a:prstGeom prst="ellipse">
            <a:avLst/>
          </a:prstGeom>
          <a:solidFill>
            <a:srgbClr val="EF6F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F507EA-2503-4511-B99D-8F43739CBE2F}"/>
              </a:ext>
            </a:extLst>
          </p:cNvPr>
          <p:cNvSpPr>
            <a:spLocks noGrp="1"/>
          </p:cNvSpPr>
          <p:nvPr/>
        </p:nvSpPr>
        <p:spPr>
          <a:xfrm>
            <a:off x="9601200" y="3238500"/>
            <a:ext cx="400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D5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43E259-ACB8-4A77-9860-CBDAF0AB9331}"/>
              </a:ext>
            </a:extLst>
          </p:cNvPr>
          <p:cNvSpPr>
            <a:spLocks noGrp="1"/>
          </p:cNvSpPr>
          <p:nvPr/>
        </p:nvSpPr>
        <p:spPr>
          <a:xfrm>
            <a:off x="9667875" y="2047875"/>
            <a:ext cx="123825" cy="14288"/>
          </a:xfrm>
          <a:prstGeom prst="rect">
            <a:avLst/>
          </a:prstGeom>
          <a:solidFill>
            <a:srgbClr val="7085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2787FE-1192-41A6-ABF2-016D4ED6BB1A}"/>
              </a:ext>
            </a:extLst>
          </p:cNvPr>
          <p:cNvSpPr>
            <a:spLocks noGrp="1"/>
          </p:cNvSpPr>
          <p:nvPr/>
        </p:nvSpPr>
        <p:spPr>
          <a:xfrm>
            <a:off x="3295650" y="4705350"/>
            <a:ext cx="2247900" cy="38100"/>
          </a:xfrm>
          <a:prstGeom prst="rect">
            <a:avLst/>
          </a:prstGeom>
          <a:solidFill>
            <a:srgbClr val="6AA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20A29B-52FC-45F1-A9CF-338C9AF5852D}"/>
              </a:ext>
            </a:extLst>
          </p:cNvPr>
          <p:cNvSpPr>
            <a:spLocks noGrp="1"/>
          </p:cNvSpPr>
          <p:nvPr/>
        </p:nvSpPr>
        <p:spPr>
          <a:xfrm>
            <a:off x="3295650" y="48768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F5F1E8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A6FACF-D069-426B-8623-A736809DD0D7}"/>
              </a:ext>
            </a:extLst>
          </p:cNvPr>
          <p:cNvSpPr>
            <a:spLocks noGrp="1"/>
          </p:cNvSpPr>
          <p:nvPr/>
        </p:nvSpPr>
        <p:spPr>
          <a:xfrm>
            <a:off x="3295650" y="53340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AA6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6AA6FF"/>
                </a:solidFill>
                <a:latin typeface="Aptos"/>
                <a:ea typeface="Aptos"/>
                <a:cs typeface="Aptos"/>
              </a:rPr>
              <a:t>catalog input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20BEE-7678-4646-ABF8-C252421D1DD0}"/>
              </a:ext>
            </a:extLst>
          </p:cNvPr>
          <p:cNvSpPr>
            <a:spLocks noGrp="1"/>
          </p:cNvSpPr>
          <p:nvPr/>
        </p:nvSpPr>
        <p:spPr>
          <a:xfrm>
            <a:off x="3295650" y="558165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id, position vector, velocity vector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86FF88-09E2-4873-BF00-90BCEDAF817D}"/>
              </a:ext>
            </a:extLst>
          </p:cNvPr>
          <p:cNvSpPr>
            <a:spLocks noGrp="1"/>
          </p:cNvSpPr>
          <p:nvPr/>
        </p:nvSpPr>
        <p:spPr>
          <a:xfrm>
            <a:off x="6019800" y="4705350"/>
            <a:ext cx="2476500" cy="38100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FB491D0-4BD9-46EE-AE7E-ABEFF618393B}"/>
              </a:ext>
            </a:extLst>
          </p:cNvPr>
          <p:cNvSpPr>
            <a:spLocks noGrp="1"/>
          </p:cNvSpPr>
          <p:nvPr/>
        </p:nvSpPr>
        <p:spPr>
          <a:xfrm>
            <a:off x="6019800" y="487680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TCA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FD18230-82B5-469F-A841-8741A996B652}"/>
              </a:ext>
            </a:extLst>
          </p:cNvPr>
          <p:cNvSpPr>
            <a:spLocks noGrp="1"/>
          </p:cNvSpPr>
          <p:nvPr/>
        </p:nvSpPr>
        <p:spPr>
          <a:xfrm>
            <a:off x="6019800" y="5334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closest approach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901499-5F7D-4DB2-96F0-6D3D59F549D5}"/>
              </a:ext>
            </a:extLst>
          </p:cNvPr>
          <p:cNvSpPr>
            <a:spLocks noGrp="1"/>
          </p:cNvSpPr>
          <p:nvPr/>
        </p:nvSpPr>
        <p:spPr>
          <a:xfrm>
            <a:off x="6019800" y="558165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minimum separation and relative velocity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85F2778-366A-4657-AF50-F653B18874C1}"/>
              </a:ext>
            </a:extLst>
          </p:cNvPr>
          <p:cNvSpPr>
            <a:spLocks noGrp="1"/>
          </p:cNvSpPr>
          <p:nvPr/>
        </p:nvSpPr>
        <p:spPr>
          <a:xfrm>
            <a:off x="8896350" y="4705350"/>
            <a:ext cx="2247900" cy="38100"/>
          </a:xfrm>
          <a:prstGeom prst="rect">
            <a:avLst/>
          </a:prstGeom>
          <a:solidFill>
            <a:srgbClr val="EF6F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A94556-D84B-442A-95F1-CD62A15CD366}"/>
              </a:ext>
            </a:extLst>
          </p:cNvPr>
          <p:cNvSpPr>
            <a:spLocks noGrp="1"/>
          </p:cNvSpPr>
          <p:nvPr/>
        </p:nvSpPr>
        <p:spPr>
          <a:xfrm>
            <a:off x="8896350" y="48768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MVC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3619DA-F4BB-4C37-852C-50C7EC3ECD5C}"/>
              </a:ext>
            </a:extLst>
          </p:cNvPr>
          <p:cNvSpPr>
            <a:spLocks noGrp="1"/>
          </p:cNvSpPr>
          <p:nvPr/>
        </p:nvSpPr>
        <p:spPr>
          <a:xfrm>
            <a:off x="8896350" y="53340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F6F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F6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B986C11-0E6D-45DD-A52A-A6A98D7993F6}"/>
              </a:ext>
            </a:extLst>
          </p:cNvPr>
          <p:cNvSpPr>
            <a:spLocks noGrp="1"/>
          </p:cNvSpPr>
          <p:nvPr/>
        </p:nvSpPr>
        <p:spPr>
          <a:xfrm>
            <a:off x="8896350" y="558165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model, controller, view separation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66EF63B-123E-44D8-AD10-0BFC03B82F9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AA6597-7BE6-BC5B-B9B9-BE7FE94A6424}"/>
              </a:ext>
            </a:extLst>
          </p:cNvPr>
          <p:cNvSpPr txBox="1"/>
          <p:nvPr/>
        </p:nvSpPr>
        <p:spPr>
          <a:xfrm>
            <a:off x="685911" y="3768727"/>
            <a:ext cx="4743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</a:rPr>
              <a:t>Ethan Bogart, Megan Botha, Jared Beasley</a:t>
            </a:r>
          </a:p>
        </p:txBody>
      </p:sp>
    </p:spTree>
    <p:extLst>
      <p:ext uri="{BB962C8B-B14F-4D97-AF65-F5344CB8AC3E}">
        <p14:creationId xmlns:p14="http://schemas.microsoft.com/office/powerpoint/2010/main" val="1672398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9C040FA2-82AF-4FAA-A4F4-AD6F50E1BF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EF830-7FD6-432A-963A-1B0E62841BE0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DA34D0-D1C6-41A4-88FD-5241ACEF7A89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755D9-0DFF-4403-8204-906D0F52D4F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9DAA4-05EF-454D-BFD1-FD90D75E7280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12477-A12C-4F8C-902F-9C47F1BCE928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AE7BE-DFC9-41C2-98B1-9ECDEE540B80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0F4A1D-BA66-4BF0-A702-89098B2B33E1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791F95-7D00-40F2-97BD-BF346BC5C283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CA7888-1846-4A73-8291-609A8800029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E7EEA-C825-4A6C-B714-BF7BCC505CE4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B0961-04B3-47B3-A3C4-B40F6D780AD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A33490-68AE-4A22-852C-8E505238F5B2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332E68-6F82-47E6-A401-579D79B55F7E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78380B-9845-4F59-B188-56AFCDB2E068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63E02E-9A7D-4874-8602-6A6F775C2B2A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476A19-3AA3-4EB1-9EBF-D2EFE0CCBE5A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B320E5-8C1D-45AC-9C31-F8B5351DE26F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2-marker">
            <a:extLst>
              <a:ext uri="{FF2B5EF4-FFF2-40B4-BE49-F238E27FC236}">
                <a16:creationId xmlns:a16="http://schemas.microsoft.com/office/drawing/2014/main" id="{328A2D10-B195-4743-AE4C-C9C744265C8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2-label">
            <a:extLst>
              <a:ext uri="{FF2B5EF4-FFF2-40B4-BE49-F238E27FC236}">
                <a16:creationId xmlns:a16="http://schemas.microsoft.com/office/drawing/2014/main" id="{23034303-5622-4FA6-AFA9-3C034E42CAF6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APP PURPOSE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BA7E00-C7D7-4CF9-A1D5-8B96C2C450E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858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The app narrows a debris catalog into a short risk queue.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6EF5B3-8F64-44A8-8649-D63A85FAE090}"/>
              </a:ext>
            </a:extLst>
          </p:cNvPr>
          <p:cNvSpPr>
            <a:spLocks noGrp="1"/>
          </p:cNvSpPr>
          <p:nvPr/>
        </p:nvSpPr>
        <p:spPr>
          <a:xfrm>
            <a:off x="704850" y="1676400"/>
            <a:ext cx="8572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It is </a:t>
            </a:r>
            <a:r>
              <a:rPr lang="en-US" sz="135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a </a:t>
            </a:r>
            <a:r>
              <a:rPr sz="135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screening dashboard</a:t>
            </a:r>
            <a:r>
              <a:rPr lang="en-US" sz="135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for a mission-operations view</a:t>
            </a:r>
            <a:r>
              <a:rPr lang="en-US" sz="135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.</a:t>
            </a:r>
            <a:endParaRPr sz="1350" b="0" dirty="0">
              <a:solidFill>
                <a:srgbClr val="AAB8B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44C896-BAF7-4332-BFCD-4564F213A5CF}"/>
              </a:ext>
            </a:extLst>
          </p:cNvPr>
          <p:cNvSpPr>
            <a:spLocks noGrp="1"/>
          </p:cNvSpPr>
          <p:nvPr/>
        </p:nvSpPr>
        <p:spPr>
          <a:xfrm>
            <a:off x="895350" y="2714625"/>
            <a:ext cx="2762250" cy="2190750"/>
          </a:xfrm>
          <a:prstGeom prst="rect">
            <a:avLst/>
          </a:prstGeom>
          <a:solidFill>
            <a:srgbClr val="14252D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817F2D-5619-4EE7-98A0-6FE345EEE2B3}"/>
              </a:ext>
            </a:extLst>
          </p:cNvPr>
          <p:cNvSpPr>
            <a:spLocks noGrp="1"/>
          </p:cNvSpPr>
          <p:nvPr/>
        </p:nvSpPr>
        <p:spPr>
          <a:xfrm>
            <a:off x="1123950" y="2952750"/>
            <a:ext cx="2266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AA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AA6FF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2828C0-265B-41B0-9C89-E48EC16D4DE8}"/>
              </a:ext>
            </a:extLst>
          </p:cNvPr>
          <p:cNvSpPr>
            <a:spLocks noGrp="1"/>
          </p:cNvSpPr>
          <p:nvPr/>
        </p:nvSpPr>
        <p:spPr>
          <a:xfrm>
            <a:off x="1123950" y="3448050"/>
            <a:ext cx="2190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CSV catalog</a:t>
            </a:r>
          </a:p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Spacecraft state</a:t>
            </a:r>
          </a:p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Analysis window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E79B4F-9664-45D2-B3DC-3501A17C0ECE}"/>
              </a:ext>
            </a:extLst>
          </p:cNvPr>
          <p:cNvSpPr>
            <a:spLocks noGrp="1"/>
          </p:cNvSpPr>
          <p:nvPr/>
        </p:nvSpPr>
        <p:spPr>
          <a:xfrm>
            <a:off x="4476750" y="2714625"/>
            <a:ext cx="2762250" cy="2190750"/>
          </a:xfrm>
          <a:prstGeom prst="rect">
            <a:avLst/>
          </a:prstGeom>
          <a:solidFill>
            <a:srgbClr val="14252D"/>
          </a:solidFill>
          <a:ln w="9525">
            <a:solidFill>
              <a:srgbClr val="7BD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F1C267-5159-4151-BDA3-4FC55CB51687}"/>
              </a:ext>
            </a:extLst>
          </p:cNvPr>
          <p:cNvSpPr>
            <a:spLocks noGrp="1"/>
          </p:cNvSpPr>
          <p:nvPr/>
        </p:nvSpPr>
        <p:spPr>
          <a:xfrm>
            <a:off x="4705350" y="2952750"/>
            <a:ext cx="2266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770DA2-2DCE-4472-8847-97B427D4BFB9}"/>
              </a:ext>
            </a:extLst>
          </p:cNvPr>
          <p:cNvSpPr>
            <a:spLocks noGrp="1"/>
          </p:cNvSpPr>
          <p:nvPr/>
        </p:nvSpPr>
        <p:spPr>
          <a:xfrm>
            <a:off x="4705350" y="3448050"/>
            <a:ext cx="2190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Validate schema</a:t>
            </a:r>
          </a:p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Propagate motion</a:t>
            </a:r>
          </a:p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Compute encounter metrics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625775-4EC0-412B-B4A9-490B47646C54}"/>
              </a:ext>
            </a:extLst>
          </p:cNvPr>
          <p:cNvSpPr>
            <a:spLocks noGrp="1"/>
          </p:cNvSpPr>
          <p:nvPr/>
        </p:nvSpPr>
        <p:spPr>
          <a:xfrm>
            <a:off x="8058150" y="2714625"/>
            <a:ext cx="2762250" cy="2190750"/>
          </a:xfrm>
          <a:prstGeom prst="rect">
            <a:avLst/>
          </a:prstGeom>
          <a:solidFill>
            <a:srgbClr val="14252D"/>
          </a:solidFill>
          <a:ln w="9525">
            <a:solidFill>
              <a:srgbClr val="F6C1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2F8FB5-A90D-4BDF-A9D7-E2DD9CD9B202}"/>
              </a:ext>
            </a:extLst>
          </p:cNvPr>
          <p:cNvSpPr>
            <a:spLocks noGrp="1"/>
          </p:cNvSpPr>
          <p:nvPr/>
        </p:nvSpPr>
        <p:spPr>
          <a:xfrm>
            <a:off x="8286750" y="2952750"/>
            <a:ext cx="2266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C15B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FEE915-7926-425C-8F59-0D7C4FA559FE}"/>
              </a:ext>
            </a:extLst>
          </p:cNvPr>
          <p:cNvSpPr>
            <a:spLocks noGrp="1"/>
          </p:cNvSpPr>
          <p:nvPr/>
        </p:nvSpPr>
        <p:spPr>
          <a:xfrm>
            <a:off x="8286750" y="3448050"/>
            <a:ext cx="2190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Ranked alert table</a:t>
            </a:r>
          </a:p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Close-approach timeline</a:t>
            </a:r>
          </a:p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Plots, geometry, CSV export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2CCB17-7CC0-4523-A74B-BF2715D3342D}"/>
              </a:ext>
            </a:extLst>
          </p:cNvPr>
          <p:cNvSpPr>
            <a:spLocks noGrp="1"/>
          </p:cNvSpPr>
          <p:nvPr/>
        </p:nvSpPr>
        <p:spPr>
          <a:xfrm>
            <a:off x="3657600" y="3800475"/>
            <a:ext cx="81915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31FF6E-A7B9-46FB-ACD7-43CEA0C48D2C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E0D9AA-6CCF-4FFA-9EB7-49D0C45D71B1}"/>
              </a:ext>
            </a:extLst>
          </p:cNvPr>
          <p:cNvSpPr>
            <a:spLocks noGrp="1"/>
          </p:cNvSpPr>
          <p:nvPr/>
        </p:nvSpPr>
        <p:spPr>
          <a:xfrm>
            <a:off x="7239000" y="3800475"/>
            <a:ext cx="81915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0A697E-C09F-4512-8936-C3ECB6A57A88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7564AA-7EAA-4F71-B14B-EC0EF24899F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282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384AF0CA-6D16-4AE5-B691-4591BC89CB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D7083A-9ACF-4426-B2AB-A0BE6EF63BCF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9A9349-1D5C-4953-98D6-693843F0DD14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1C722-E2CF-42D6-A98A-A4992B87DE9E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634C87-1E4E-4188-98DA-13D4518D669A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EC458-29F4-4B7D-9439-688F2CF27CF6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C498-7565-41C5-9E68-832B72F99639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D0A454-2128-43D8-8F49-0881A45B7193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EDDC9-888C-4687-8C68-7046B4964062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22787E-DB13-496F-A747-D618AC985979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CDBCE9-0B9A-48F5-89FE-8045C6F05E0C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3ED90-BB7A-44A0-9BEA-957DDFD9AFD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C8114F-EB65-4BC0-8D0B-6D5F1B42322A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3EAF1F-7932-4887-874F-B9E348615828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1765D7-5958-4438-848D-52E103F4D394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C74192-8A8F-4F8C-B62B-0ECF7784F0F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4F7315-41AD-4AF2-BF4D-015360A7E3D4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1142C0-87FB-4A1D-8DF6-DD33E46A1363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3-marker">
            <a:extLst>
              <a:ext uri="{FF2B5EF4-FFF2-40B4-BE49-F238E27FC236}">
                <a16:creationId xmlns:a16="http://schemas.microsoft.com/office/drawing/2014/main" id="{9C77F932-504C-4FA1-A64F-6A9D82D2871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3-label">
            <a:extLst>
              <a:ext uri="{FF2B5EF4-FFF2-40B4-BE49-F238E27FC236}">
                <a16:creationId xmlns:a16="http://schemas.microsoft.com/office/drawing/2014/main" id="{CA1F40F2-64B4-4589-A1EA-987778C04280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IMPLEMENTED CAPABILITIES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6E30E1-7B37-41E3-AA6C-872E242D794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App Functionality Process</a:t>
            </a:r>
            <a:endParaRPr sz="285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262F2-A18B-4FE5-8BEF-7942172ACB13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1676400" cy="1809750"/>
          </a:xfrm>
          <a:prstGeom prst="rect">
            <a:avLst/>
          </a:prstGeom>
          <a:solidFill>
            <a:srgbClr val="172930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848CAC-04B4-4B8E-BE26-082279ED429F}"/>
              </a:ext>
            </a:extLst>
          </p:cNvPr>
          <p:cNvSpPr>
            <a:spLocks noGrp="1"/>
          </p:cNvSpPr>
          <p:nvPr/>
        </p:nvSpPr>
        <p:spPr>
          <a:xfrm>
            <a:off x="952500" y="25527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AA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AA6FF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9B016F-DB61-44A4-8917-CFD61ACD80C1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1314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DebrisCatalogLoader reads CSV headers and aliases.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D80D4F-FD3E-46A5-BFED-083E2A66AB8E}"/>
              </a:ext>
            </a:extLst>
          </p:cNvPr>
          <p:cNvSpPr>
            <a:spLocks noGrp="1"/>
          </p:cNvSpPr>
          <p:nvPr/>
        </p:nvSpPr>
        <p:spPr>
          <a:xfrm>
            <a:off x="3067050" y="2343150"/>
            <a:ext cx="1676400" cy="1809750"/>
          </a:xfrm>
          <a:prstGeom prst="rect">
            <a:avLst/>
          </a:prstGeom>
          <a:solidFill>
            <a:srgbClr val="172930"/>
          </a:solidFill>
          <a:ln w="9525">
            <a:solidFill>
              <a:srgbClr val="F6C1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911A19-BB4B-44CB-8326-2A503E31B9CA}"/>
              </a:ext>
            </a:extLst>
          </p:cNvPr>
          <p:cNvSpPr>
            <a:spLocks noGrp="1"/>
          </p:cNvSpPr>
          <p:nvPr/>
        </p:nvSpPr>
        <p:spPr>
          <a:xfrm>
            <a:off x="3238500" y="25527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C15B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39F013-F89A-4AC4-AF9C-B1C08907178B}"/>
              </a:ext>
            </a:extLst>
          </p:cNvPr>
          <p:cNvSpPr>
            <a:spLocks noGrp="1"/>
          </p:cNvSpPr>
          <p:nvPr/>
        </p:nvSpPr>
        <p:spPr>
          <a:xfrm>
            <a:off x="3238500" y="3009900"/>
            <a:ext cx="1314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CatalogValidator and InputValidator reject malformed data.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38FD74-FB5D-47CA-9CC4-094DA68F9B8F}"/>
              </a:ext>
            </a:extLst>
          </p:cNvPr>
          <p:cNvSpPr>
            <a:spLocks noGrp="1"/>
          </p:cNvSpPr>
          <p:nvPr/>
        </p:nvSpPr>
        <p:spPr>
          <a:xfrm>
            <a:off x="5353050" y="2343150"/>
            <a:ext cx="1676400" cy="1809750"/>
          </a:xfrm>
          <a:prstGeom prst="rect">
            <a:avLst/>
          </a:prstGeom>
          <a:solidFill>
            <a:srgbClr val="172930"/>
          </a:solidFill>
          <a:ln w="9525">
            <a:solidFill>
              <a:srgbClr val="7BD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34132C-DE38-47A4-8237-A2DAB578140F}"/>
              </a:ext>
            </a:extLst>
          </p:cNvPr>
          <p:cNvSpPr>
            <a:spLocks noGrp="1"/>
          </p:cNvSpPr>
          <p:nvPr/>
        </p:nvSpPr>
        <p:spPr>
          <a:xfrm>
            <a:off x="5524500" y="25527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A07182-7FEC-47E2-8828-DDB21DC7AC5C}"/>
              </a:ext>
            </a:extLst>
          </p:cNvPr>
          <p:cNvSpPr>
            <a:spLocks noGrp="1"/>
          </p:cNvSpPr>
          <p:nvPr/>
        </p:nvSpPr>
        <p:spPr>
          <a:xfrm>
            <a:off x="5524500" y="3009900"/>
            <a:ext cx="1314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EncounterAnalyzer calculates TCA, separation, and relative velocity.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DBD291-B18A-43CE-8930-71B2C1A48904}"/>
              </a:ext>
            </a:extLst>
          </p:cNvPr>
          <p:cNvSpPr>
            <a:spLocks noGrp="1"/>
          </p:cNvSpPr>
          <p:nvPr/>
        </p:nvSpPr>
        <p:spPr>
          <a:xfrm>
            <a:off x="7639050" y="2343150"/>
            <a:ext cx="1676400" cy="1809750"/>
          </a:xfrm>
          <a:prstGeom prst="rect">
            <a:avLst/>
          </a:prstGeom>
          <a:solidFill>
            <a:srgbClr val="172930"/>
          </a:solidFill>
          <a:ln w="9525">
            <a:solidFill>
              <a:srgbClr val="EF6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80CDBC-EC28-4A5D-BDE5-4E2BC083C278}"/>
              </a:ext>
            </a:extLst>
          </p:cNvPr>
          <p:cNvSpPr>
            <a:spLocks noGrp="1"/>
          </p:cNvSpPr>
          <p:nvPr/>
        </p:nvSpPr>
        <p:spPr>
          <a:xfrm>
            <a:off x="7810500" y="25527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F6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F6F6C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57D458-E5F0-4B60-8F70-38217937380E}"/>
              </a:ext>
            </a:extLst>
          </p:cNvPr>
          <p:cNvSpPr>
            <a:spLocks noGrp="1"/>
          </p:cNvSpPr>
          <p:nvPr/>
        </p:nvSpPr>
        <p:spPr>
          <a:xfrm>
            <a:off x="7810500" y="3009900"/>
            <a:ext cx="1314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RiskScoreCalculator creates a transparent severity score.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1B0AB0-96A0-4C71-A64A-9E0302E285B8}"/>
              </a:ext>
            </a:extLst>
          </p:cNvPr>
          <p:cNvSpPr>
            <a:spLocks noGrp="1"/>
          </p:cNvSpPr>
          <p:nvPr/>
        </p:nvSpPr>
        <p:spPr>
          <a:xfrm>
            <a:off x="9925050" y="2343150"/>
            <a:ext cx="1676400" cy="1809750"/>
          </a:xfrm>
          <a:prstGeom prst="rect">
            <a:avLst/>
          </a:prstGeom>
          <a:solidFill>
            <a:srgbClr val="172930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665A09-BAE8-4DDB-9D8D-2DEB838ED629}"/>
              </a:ext>
            </a:extLst>
          </p:cNvPr>
          <p:cNvSpPr>
            <a:spLocks noGrp="1"/>
          </p:cNvSpPr>
          <p:nvPr/>
        </p:nvSpPr>
        <p:spPr>
          <a:xfrm>
            <a:off x="10096500" y="25527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AA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AA6FF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8C2147-FF86-4EB5-AECD-AFDC1CBFAE35}"/>
              </a:ext>
            </a:extLst>
          </p:cNvPr>
          <p:cNvSpPr>
            <a:spLocks noGrp="1"/>
          </p:cNvSpPr>
          <p:nvPr/>
        </p:nvSpPr>
        <p:spPr>
          <a:xfrm>
            <a:off x="10096500" y="3009900"/>
            <a:ext cx="1314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DashboardView / GuiDashboardView refresh tables and plots.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3100B9-CACA-414C-AD6A-C8EBBAA3D0DC}"/>
              </a:ext>
            </a:extLst>
          </p:cNvPr>
          <p:cNvSpPr>
            <a:spLocks noGrp="1"/>
          </p:cNvSpPr>
          <p:nvPr/>
        </p:nvSpPr>
        <p:spPr>
          <a:xfrm>
            <a:off x="2457450" y="3238500"/>
            <a:ext cx="60960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7C0272-7126-474C-90AD-C64574DED2FB}"/>
              </a:ext>
            </a:extLst>
          </p:cNvPr>
          <p:cNvSpPr>
            <a:spLocks noGrp="1"/>
          </p:cNvSpPr>
          <p:nvPr/>
        </p:nvSpPr>
        <p:spPr>
          <a:xfrm>
            <a:off x="2990850" y="31337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3C3166-CBF1-443E-A73B-ABBBB7070601}"/>
              </a:ext>
            </a:extLst>
          </p:cNvPr>
          <p:cNvSpPr>
            <a:spLocks noGrp="1"/>
          </p:cNvSpPr>
          <p:nvPr/>
        </p:nvSpPr>
        <p:spPr>
          <a:xfrm>
            <a:off x="4743450" y="3238500"/>
            <a:ext cx="60960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0CC5C1-DF9D-4DE2-BC75-718B7BCCEF60}"/>
              </a:ext>
            </a:extLst>
          </p:cNvPr>
          <p:cNvSpPr>
            <a:spLocks noGrp="1"/>
          </p:cNvSpPr>
          <p:nvPr/>
        </p:nvSpPr>
        <p:spPr>
          <a:xfrm>
            <a:off x="5276850" y="31337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9A9A4D-3216-410F-903D-BFFD2AE22F6C}"/>
              </a:ext>
            </a:extLst>
          </p:cNvPr>
          <p:cNvSpPr>
            <a:spLocks noGrp="1"/>
          </p:cNvSpPr>
          <p:nvPr/>
        </p:nvSpPr>
        <p:spPr>
          <a:xfrm>
            <a:off x="7029450" y="3238500"/>
            <a:ext cx="60960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71C13C-3904-4F22-A7AF-73797B747CD5}"/>
              </a:ext>
            </a:extLst>
          </p:cNvPr>
          <p:cNvSpPr>
            <a:spLocks noGrp="1"/>
          </p:cNvSpPr>
          <p:nvPr/>
        </p:nvSpPr>
        <p:spPr>
          <a:xfrm>
            <a:off x="7562850" y="31337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EE361F-16D5-4DBE-A546-FB806AD1EC25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60960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1E6CD8-B48E-4775-9981-487715A36213}"/>
              </a:ext>
            </a:extLst>
          </p:cNvPr>
          <p:cNvSpPr>
            <a:spLocks noGrp="1"/>
          </p:cNvSpPr>
          <p:nvPr/>
        </p:nvSpPr>
        <p:spPr>
          <a:xfrm>
            <a:off x="9848850" y="31337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7351A9-ED12-4115-B74C-6DEE09D4642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472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F9D9965-E5E5-45A8-AE3A-5CC9AD89BA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6CCD7-C153-4ED2-965A-01E3FD234B6D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1F727-9FE7-4857-B4F6-BC0C0C42FF9D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A94658-ED7B-484F-87B4-57AFF4D50A0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0E8CA-4FFA-43D2-8899-D70F1BD7F750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51ED2-C474-448B-A353-7EE2AF4E6F20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5FC75-FF90-4B1F-B3A7-D15E7FA057BB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DE91A0-E7A7-4049-A4C4-B15AA3583D8D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DA5815-9CA9-4CEA-8706-FB2D91E132C4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542CA9-6D67-403B-85F4-C4FC3A9495B8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4D0B05-2988-4F55-81B7-EDCA22EA6BCF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420327-BC4B-4730-B1F0-980962A9AC5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B8512E-43A1-4251-BCB3-4EE86800B9C7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E84A30-772D-41F3-B3DF-B1DB8822FF3A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96E746-E229-4A53-9A5E-D5C5F9DEB6FE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CA662-0435-4916-894F-09DC0C7AF3DD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CA3C34-9AFF-424D-8CB2-03C82092BE6A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374194-5281-466E-95AB-A05AAB90F53D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4-marker">
            <a:extLst>
              <a:ext uri="{FF2B5EF4-FFF2-40B4-BE49-F238E27FC236}">
                <a16:creationId xmlns:a16="http://schemas.microsoft.com/office/drawing/2014/main" id="{97A3D962-239F-4CF0-AE03-9174361B4946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4-label">
            <a:extLst>
              <a:ext uri="{FF2B5EF4-FFF2-40B4-BE49-F238E27FC236}">
                <a16:creationId xmlns:a16="http://schemas.microsoft.com/office/drawing/2014/main" id="{4F3A0DFB-0F45-4271-9B07-99C80F7B2F13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MVC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850434-003F-4CAF-814A-00DED168239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95344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MVC separates orbital math from user actions and display updates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62C8AC-D746-4A9D-A7F7-4EE35A09E53A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2714625" cy="2781300"/>
          </a:xfrm>
          <a:prstGeom prst="rect">
            <a:avLst/>
          </a:prstGeom>
          <a:solidFill>
            <a:srgbClr val="172930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C1155A-672C-4358-AD52-A6C1C78C97AC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6AA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AA6FF"/>
                </a:solidFill>
                <a:latin typeface="Aptos"/>
                <a:ea typeface="Aptos"/>
                <a:cs typeface="Aptos"/>
              </a:rPr>
              <a:t>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2BA37E-7BA4-49FB-BB05-99CEEE858FC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000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DashboardView</a:t>
            </a:r>
          </a:p>
          <a:p>
            <a:pPr algn="l">
              <a:defRPr sz="12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GuiDashboardView</a:t>
            </a:r>
          </a:p>
          <a:p>
            <a:pPr algn="l">
              <a:defRPr sz="12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DashboardPresenter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E38BC7-8B9F-442B-96B3-11C1FDAE896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09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Displays catalog count, alerts, timeline, distance plots, geometry, and errors.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3A7D2A-095D-4E68-AAAA-4C3C51057B1D}"/>
              </a:ext>
            </a:extLst>
          </p:cNvPr>
          <p:cNvSpPr>
            <a:spLocks noGrp="1"/>
          </p:cNvSpPr>
          <p:nvPr/>
        </p:nvSpPr>
        <p:spPr>
          <a:xfrm>
            <a:off x="4743450" y="2324100"/>
            <a:ext cx="2714625" cy="2781300"/>
          </a:xfrm>
          <a:prstGeom prst="rect">
            <a:avLst/>
          </a:prstGeom>
          <a:solidFill>
            <a:srgbClr val="172930"/>
          </a:solidFill>
          <a:ln w="9525">
            <a:solidFill>
              <a:srgbClr val="7BD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B6A43A-ACCD-4E4E-A929-6CA1E060DE54}"/>
              </a:ext>
            </a:extLst>
          </p:cNvPr>
          <p:cNvSpPr>
            <a:spLocks noGrp="1"/>
          </p:cNvSpPr>
          <p:nvPr/>
        </p:nvSpPr>
        <p:spPr>
          <a:xfrm>
            <a:off x="4991100" y="2552700"/>
            <a:ext cx="2152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7E9C0E-0169-4830-BA5F-4A2A1EF69970}"/>
              </a:ext>
            </a:extLst>
          </p:cNvPr>
          <p:cNvSpPr>
            <a:spLocks noGrp="1"/>
          </p:cNvSpPr>
          <p:nvPr/>
        </p:nvSpPr>
        <p:spPr>
          <a:xfrm>
            <a:off x="4991100" y="30861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DashboardController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5E0117-B507-4D7C-9C2C-EF8581032D61}"/>
              </a:ext>
            </a:extLst>
          </p:cNvPr>
          <p:cNvSpPr>
            <a:spLocks noGrp="1"/>
          </p:cNvSpPr>
          <p:nvPr/>
        </p:nvSpPr>
        <p:spPr>
          <a:xfrm>
            <a:off x="4991100" y="3638550"/>
            <a:ext cx="2095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Handles load catalog, spacecraft parameters, analysis config, run analysis, and CSV export.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D03337-0827-4E85-9C60-FB6C62FB8B83}"/>
              </a:ext>
            </a:extLst>
          </p:cNvPr>
          <p:cNvSpPr>
            <a:spLocks noGrp="1"/>
          </p:cNvSpPr>
          <p:nvPr/>
        </p:nvSpPr>
        <p:spPr>
          <a:xfrm>
            <a:off x="8667750" y="2324100"/>
            <a:ext cx="2714625" cy="2781300"/>
          </a:xfrm>
          <a:prstGeom prst="rect">
            <a:avLst/>
          </a:prstGeom>
          <a:solidFill>
            <a:srgbClr val="172930"/>
          </a:solidFill>
          <a:ln w="9525">
            <a:solidFill>
              <a:srgbClr val="F6C1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163EA9-39E0-4923-BDE1-5A827601CE22}"/>
              </a:ext>
            </a:extLst>
          </p:cNvPr>
          <p:cNvSpPr>
            <a:spLocks noGrp="1"/>
          </p:cNvSpPr>
          <p:nvPr/>
        </p:nvSpPr>
        <p:spPr>
          <a:xfrm>
            <a:off x="8915400" y="255270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15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87B539-6AB2-4E13-9295-0B7CCAAEE14D}"/>
              </a:ext>
            </a:extLst>
          </p:cNvPr>
          <p:cNvSpPr>
            <a:spLocks noGrp="1"/>
          </p:cNvSpPr>
          <p:nvPr/>
        </p:nvSpPr>
        <p:spPr>
          <a:xfrm>
            <a:off x="8915400" y="3086100"/>
            <a:ext cx="2000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DebrisTrackingModel</a:t>
            </a:r>
          </a:p>
          <a:p>
            <a:pPr algn="l">
              <a:defRPr sz="12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services.py</a:t>
            </a:r>
          </a:p>
          <a:p>
            <a:pPr algn="l">
              <a:defRPr sz="12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entities.py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C12F24-7CBD-471E-974A-3CE5C65DD0B6}"/>
              </a:ext>
            </a:extLst>
          </p:cNvPr>
          <p:cNvSpPr>
            <a:spLocks noGrp="1"/>
          </p:cNvSpPr>
          <p:nvPr/>
        </p:nvSpPr>
        <p:spPr>
          <a:xfrm>
            <a:off x="8915400" y="4095750"/>
            <a:ext cx="209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Owns catalog, spacecraft state, analysis configuration, ranked results, events, and export.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C18841-A63F-47B5-8B6C-1127669C0836}"/>
              </a:ext>
            </a:extLst>
          </p:cNvPr>
          <p:cNvSpPr>
            <a:spLocks noGrp="1"/>
          </p:cNvSpPr>
          <p:nvPr/>
        </p:nvSpPr>
        <p:spPr>
          <a:xfrm>
            <a:off x="3533775" y="3248025"/>
            <a:ext cx="1209675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31D807-6218-4337-8E62-BAA68F9AC765}"/>
              </a:ext>
            </a:extLst>
          </p:cNvPr>
          <p:cNvSpPr>
            <a:spLocks noGrp="1"/>
          </p:cNvSpPr>
          <p:nvPr/>
        </p:nvSpPr>
        <p:spPr>
          <a:xfrm>
            <a:off x="4667250" y="31432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209045-2C3B-43F3-9454-9843E5F51D51}"/>
              </a:ext>
            </a:extLst>
          </p:cNvPr>
          <p:cNvSpPr>
            <a:spLocks noGrp="1"/>
          </p:cNvSpPr>
          <p:nvPr/>
        </p:nvSpPr>
        <p:spPr>
          <a:xfrm>
            <a:off x="7458075" y="3248025"/>
            <a:ext cx="1209675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11FF7C-B4B0-4B22-A654-7533F868B16E}"/>
              </a:ext>
            </a:extLst>
          </p:cNvPr>
          <p:cNvSpPr>
            <a:spLocks noGrp="1"/>
          </p:cNvSpPr>
          <p:nvPr/>
        </p:nvSpPr>
        <p:spPr>
          <a:xfrm>
            <a:off x="8591550" y="31432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41341A-62BB-4D69-BB3B-6B914E9258D6}"/>
              </a:ext>
            </a:extLst>
          </p:cNvPr>
          <p:cNvSpPr>
            <a:spLocks noGrp="1"/>
          </p:cNvSpPr>
          <p:nvPr/>
        </p:nvSpPr>
        <p:spPr>
          <a:xfrm>
            <a:off x="7458075" y="4276725"/>
            <a:ext cx="1209675" cy="19050"/>
          </a:xfrm>
          <a:prstGeom prst="rect">
            <a:avLst/>
          </a:prstGeom>
          <a:solidFill>
            <a:srgbClr val="EF6F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563FBE-2FE9-44D2-B33C-9829FB2C94E3}"/>
              </a:ext>
            </a:extLst>
          </p:cNvPr>
          <p:cNvSpPr>
            <a:spLocks noGrp="1"/>
          </p:cNvSpPr>
          <p:nvPr/>
        </p:nvSpPr>
        <p:spPr>
          <a:xfrm>
            <a:off x="3533775" y="4276725"/>
            <a:ext cx="1209675" cy="19050"/>
          </a:xfrm>
          <a:prstGeom prst="rect">
            <a:avLst/>
          </a:prstGeom>
          <a:solidFill>
            <a:srgbClr val="EF6F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3F9925-8D2E-432C-97F0-B3E7246AB1F0}"/>
              </a:ext>
            </a:extLst>
          </p:cNvPr>
          <p:cNvSpPr>
            <a:spLocks noGrp="1"/>
          </p:cNvSpPr>
          <p:nvPr/>
        </p:nvSpPr>
        <p:spPr>
          <a:xfrm>
            <a:off x="3752850" y="2914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AAB8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5F36A8-2C97-4387-A22D-75AF83E40D4F}"/>
              </a:ext>
            </a:extLst>
          </p:cNvPr>
          <p:cNvSpPr>
            <a:spLocks noGrp="1"/>
          </p:cNvSpPr>
          <p:nvPr/>
        </p:nvSpPr>
        <p:spPr>
          <a:xfrm>
            <a:off x="3752850" y="2943225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user actions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0015A9-2B6B-4F8A-A1C9-B51FC069593C}"/>
              </a:ext>
            </a:extLst>
          </p:cNvPr>
          <p:cNvSpPr>
            <a:spLocks noGrp="1"/>
          </p:cNvSpPr>
          <p:nvPr/>
        </p:nvSpPr>
        <p:spPr>
          <a:xfrm>
            <a:off x="7677150" y="2914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AAB8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9DE2AE-D2E6-4AA7-B592-8B21DDE4ABDB}"/>
              </a:ext>
            </a:extLst>
          </p:cNvPr>
          <p:cNvSpPr>
            <a:spLocks noGrp="1"/>
          </p:cNvSpPr>
          <p:nvPr/>
        </p:nvSpPr>
        <p:spPr>
          <a:xfrm>
            <a:off x="7677150" y="2943225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model calls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0D6B31-2060-4D6F-B5E8-A8E6BF00EA8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091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F7002-3650-3F87-666D-4DC11C58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0115D2B-F36C-1AEE-98D1-24D9169555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9E560-3C05-F1BA-E55A-BC3916062C5C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C3CA6-C41A-0307-AF08-3CA6F3168FE8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297789-0EFB-164A-52BA-3FFB7A0FD86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7CAC9-2205-8F0C-919C-2C976B8F11C6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2C62FD-1644-BD02-CE03-FE30C9233EAA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C084A-35A8-6652-901D-ADC618BF5CD8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32D855-07EE-6FD6-9C1D-D71CE29F33C3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E1201F-D8AC-C857-B250-035EEF6DB068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D42321-53AA-58DC-BAFF-21EAA6737786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DFBB84-0A63-D7A1-BDF8-F558F4DC3F05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4C1681-93D7-14CB-3E06-9DD1A0BD5A4E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77DA4E-028F-E1E9-8513-4349DCD06665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8D102F-E6B4-884A-0615-607D46FA2EF8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3DDA69-0FEB-DDF7-56C0-4B259A28DE81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C568BD-CCC9-B9CC-1E0E-8EE81FD22958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B1039D-242F-8B4C-6D1B-C96CDF463792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659F22-9958-91D7-C3B7-0CC7598E15EF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4-marker">
            <a:extLst>
              <a:ext uri="{FF2B5EF4-FFF2-40B4-BE49-F238E27FC236}">
                <a16:creationId xmlns:a16="http://schemas.microsoft.com/office/drawing/2014/main" id="{F2FB4B48-EBC1-2C78-0CE2-738343D6AD3E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4-label">
            <a:extLst>
              <a:ext uri="{FF2B5EF4-FFF2-40B4-BE49-F238E27FC236}">
                <a16:creationId xmlns:a16="http://schemas.microsoft.com/office/drawing/2014/main" id="{87587DED-F9D5-6820-3C09-374DC9824554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7BDCB5"/>
                </a:solidFill>
                <a:latin typeface="Aptos"/>
                <a:ea typeface="Aptos"/>
                <a:cs typeface="Aptos"/>
              </a:rPr>
              <a:t>UML Diagram</a:t>
            </a:r>
            <a:endParaRPr sz="975" b="1" dirty="0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762FDA-1FE6-F367-F1D3-4EF150B0E779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95344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Class Diagram Structure</a:t>
            </a:r>
            <a:endParaRPr sz="285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9CAFF-33A6-B78F-62F0-D5B3FEA90EEF}"/>
              </a:ext>
            </a:extLst>
          </p:cNvPr>
          <p:cNvSpPr>
            <a:spLocks noGrp="1"/>
          </p:cNvSpPr>
          <p:nvPr/>
        </p:nvSpPr>
        <p:spPr>
          <a:xfrm>
            <a:off x="123825" y="1965916"/>
            <a:ext cx="11954762" cy="3310934"/>
          </a:xfrm>
          <a:prstGeom prst="rect">
            <a:avLst/>
          </a:prstGeom>
          <a:solidFill>
            <a:srgbClr val="172930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F38872-AC97-32F6-5519-48B24BC4F01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5</a:t>
            </a:r>
            <a:endParaRPr sz="900" b="0" dirty="0">
              <a:solidFill>
                <a:srgbClr val="AAB8B6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4CDE350-4FAB-4B56-713D-C9B8BA049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64" y="2190887"/>
            <a:ext cx="11620671" cy="287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56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3011-3CF0-4A8C-2508-9E0B221F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B172835-1192-8BC2-C13D-750C6C532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D9782A-60E1-58C0-1F38-73CDACC76A78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D9981D-6931-EDAF-F9F3-DBA11A9713C0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7783F-22EB-CC1D-C299-80C5EB2C387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E6D26-E4C4-A463-80D8-5D3EBC29D07A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C91A6B-C8AA-B93E-FCCE-9E46A8F2514F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1C063-18A7-1DD9-B61C-F4BFCA27A283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87B842-EE0C-396F-8F8E-EBD055F40D2A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F684CA-8DB8-4479-8E81-D0231E9BB80D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8191A9-286C-CB04-E39E-F6F289DE647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9E993-8D0F-8DC9-4C1A-CE3895276EEE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49E5B9-81FE-9368-E3B7-6DB6CD8E3062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788E61-9E83-E279-0AE7-98CDE5027A86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8161C7-56A4-99BC-25B4-ECD11C87A7DA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9A8D72-F695-099C-2A39-A3BEE04D1B48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418BB-4903-C26E-4304-E890985830A6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B33B1B-37A1-72BE-5F0E-54306D6851B7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94C4C-9AF3-CB97-BCC5-C8773E3C9A4D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4-marker">
            <a:extLst>
              <a:ext uri="{FF2B5EF4-FFF2-40B4-BE49-F238E27FC236}">
                <a16:creationId xmlns:a16="http://schemas.microsoft.com/office/drawing/2014/main" id="{9F02178D-59E3-94B0-0FB5-7BF37A838DD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4-label">
            <a:extLst>
              <a:ext uri="{FF2B5EF4-FFF2-40B4-BE49-F238E27FC236}">
                <a16:creationId xmlns:a16="http://schemas.microsoft.com/office/drawing/2014/main" id="{083D20A4-1196-614E-C5D1-FB8797F338AD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7BDCB5"/>
                </a:solidFill>
                <a:latin typeface="Aptos"/>
                <a:ea typeface="Aptos"/>
                <a:cs typeface="Aptos"/>
              </a:rPr>
              <a:t>STATECHART</a:t>
            </a:r>
            <a:endParaRPr sz="975" b="1" dirty="0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79228F-7078-989C-0973-8B37CB487B7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595344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Application Workflow State chart</a:t>
            </a:r>
            <a:endParaRPr sz="285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239DCA-647B-CE1C-29AD-263AE5A10EFF}"/>
              </a:ext>
            </a:extLst>
          </p:cNvPr>
          <p:cNvSpPr>
            <a:spLocks noGrp="1"/>
          </p:cNvSpPr>
          <p:nvPr/>
        </p:nvSpPr>
        <p:spPr>
          <a:xfrm>
            <a:off x="2562195" y="1965916"/>
            <a:ext cx="5865269" cy="3310934"/>
          </a:xfrm>
          <a:prstGeom prst="rect">
            <a:avLst/>
          </a:prstGeom>
          <a:solidFill>
            <a:srgbClr val="172930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4AA2FA5-5AFF-110B-8AB9-43E6C30330F0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5</a:t>
            </a:r>
            <a:endParaRPr sz="900" b="0" dirty="0">
              <a:solidFill>
                <a:srgbClr val="AAB8B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AutoShape 4" descr="Generated image 1">
            <a:extLst>
              <a:ext uri="{FF2B5EF4-FFF2-40B4-BE49-F238E27FC236}">
                <a16:creationId xmlns:a16="http://schemas.microsoft.com/office/drawing/2014/main" id="{9936CA51-D92A-257B-EA32-A85EC5177A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483865" cy="248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ACFC6B-5F13-6E4D-842E-AF865AF00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25" y="2070705"/>
            <a:ext cx="5609664" cy="315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5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4435956-2471-49D3-AB90-99D74AF6E8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F1B5B6-02D5-4E82-A893-B321880976F3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E02D15-1D2D-46C3-911E-BAFE06128C3D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789C4-A9C5-4D67-9977-8488308EE6C9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052FE3-35E2-4D41-BA89-985EE85BCE0E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84079-55C4-48F3-91C5-FABC3B498745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9B5A61-DA8A-4E12-ACF7-F8DD744A9325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F5DDF-736C-4B57-98B7-06C522BFF457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284A3-315C-42FA-B335-054A04C190B4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E4048-17C4-4CA3-996C-B59787A7352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9729BD-3DFA-4816-A347-63CAE2763CF6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AB1E5B-EE33-4772-89C9-7DB2940E22E6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40939-BB69-45E6-A82B-FE3311182D22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E83BD5-4EE6-45AB-B6D6-77995AA207A4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F71E1-70E1-4DF3-A495-AA841C60451A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100C8-6176-4953-B064-56EF1607551A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5E8E9F-E12D-4CDF-9882-BF851C7ECD83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43C4F7-0616-40EB-9941-449DE2576C7F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5-marker">
            <a:extLst>
              <a:ext uri="{FF2B5EF4-FFF2-40B4-BE49-F238E27FC236}">
                <a16:creationId xmlns:a16="http://schemas.microsoft.com/office/drawing/2014/main" id="{74B3DE4B-A0CA-4F53-A79F-5418477283C3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5-label">
            <a:extLst>
              <a:ext uri="{FF2B5EF4-FFF2-40B4-BE49-F238E27FC236}">
                <a16:creationId xmlns:a16="http://schemas.microsoft.com/office/drawing/2014/main" id="{3BD93DB6-7F6C-4EF2-8B18-AF1F39649F56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ANALYSIS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545D88-4B84-4184-8C10-82597E21BE0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7239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How it Tracks</a:t>
            </a:r>
            <a:endParaRPr sz="285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A0F740-1BED-4B69-9D07-5514CB3F5EBD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171700" cy="1085850"/>
          </a:xfrm>
          <a:prstGeom prst="rect">
            <a:avLst/>
          </a:prstGeom>
          <a:solidFill>
            <a:srgbClr val="172930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47888-893D-4FBF-A7B0-88F696923B43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47625" cy="1085850"/>
          </a:xfrm>
          <a:prstGeom prst="rect">
            <a:avLst/>
          </a:prstGeom>
          <a:solidFill>
            <a:srgbClr val="6AA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CE05DC-BA41-44CB-A257-EB0D4F3622B0}"/>
              </a:ext>
            </a:extLst>
          </p:cNvPr>
          <p:cNvSpPr>
            <a:spLocks noGrp="1"/>
          </p:cNvSpPr>
          <p:nvPr/>
        </p:nvSpPr>
        <p:spPr>
          <a:xfrm>
            <a:off x="990600" y="2581275"/>
            <a:ext cx="190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Relative state</a:t>
            </a:r>
          </a:p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 = debris - spacecraft</a:t>
            </a:r>
          </a:p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v = debris - spacecraft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C3F526-2168-457D-BEA6-7EA1BD808692}"/>
              </a:ext>
            </a:extLst>
          </p:cNvPr>
          <p:cNvSpPr>
            <a:spLocks noGrp="1"/>
          </p:cNvSpPr>
          <p:nvPr/>
        </p:nvSpPr>
        <p:spPr>
          <a:xfrm>
            <a:off x="3638550" y="2457450"/>
            <a:ext cx="2171700" cy="1085850"/>
          </a:xfrm>
          <a:prstGeom prst="rect">
            <a:avLst/>
          </a:prstGeom>
          <a:solidFill>
            <a:srgbClr val="172930"/>
          </a:solidFill>
          <a:ln w="9525">
            <a:solidFill>
              <a:srgbClr val="7BD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3FE089-AF53-4838-8390-BBDBCD0EC4D0}"/>
              </a:ext>
            </a:extLst>
          </p:cNvPr>
          <p:cNvSpPr>
            <a:spLocks noGrp="1"/>
          </p:cNvSpPr>
          <p:nvPr/>
        </p:nvSpPr>
        <p:spPr>
          <a:xfrm>
            <a:off x="3638550" y="2457450"/>
            <a:ext cx="47625" cy="1085850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8B3001-CFEE-447B-81F2-4F42F64F345C}"/>
              </a:ext>
            </a:extLst>
          </p:cNvPr>
          <p:cNvSpPr>
            <a:spLocks noGrp="1"/>
          </p:cNvSpPr>
          <p:nvPr/>
        </p:nvSpPr>
        <p:spPr>
          <a:xfrm>
            <a:off x="3790950" y="2581275"/>
            <a:ext cx="190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Closest approach</a:t>
            </a:r>
          </a:p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TCA = clamp(-(r dot v)/|v|^2)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1D4BD0-70D1-4573-8E57-F6179C403E46}"/>
              </a:ext>
            </a:extLst>
          </p:cNvPr>
          <p:cNvSpPr>
            <a:spLocks noGrp="1"/>
          </p:cNvSpPr>
          <p:nvPr/>
        </p:nvSpPr>
        <p:spPr>
          <a:xfrm>
            <a:off x="6438900" y="2457450"/>
            <a:ext cx="2171700" cy="1085850"/>
          </a:xfrm>
          <a:prstGeom prst="rect">
            <a:avLst/>
          </a:prstGeom>
          <a:solidFill>
            <a:srgbClr val="172930"/>
          </a:solidFill>
          <a:ln w="9525">
            <a:solidFill>
              <a:srgbClr val="F6C1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F80D91-8075-407D-8E8C-BC9EAC7E8032}"/>
              </a:ext>
            </a:extLst>
          </p:cNvPr>
          <p:cNvSpPr>
            <a:spLocks noGrp="1"/>
          </p:cNvSpPr>
          <p:nvPr/>
        </p:nvSpPr>
        <p:spPr>
          <a:xfrm>
            <a:off x="6438900" y="2457450"/>
            <a:ext cx="47625" cy="1085850"/>
          </a:xfrm>
          <a:prstGeom prst="rect">
            <a:avLst/>
          </a:prstGeom>
          <a:solidFill>
            <a:srgbClr val="F6C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BB3EE4-678B-47B6-8D04-B158F41DBF39}"/>
              </a:ext>
            </a:extLst>
          </p:cNvPr>
          <p:cNvSpPr>
            <a:spLocks noGrp="1"/>
          </p:cNvSpPr>
          <p:nvPr/>
        </p:nvSpPr>
        <p:spPr>
          <a:xfrm>
            <a:off x="6591300" y="2581275"/>
            <a:ext cx="190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Propagate to TCA</a:t>
            </a:r>
          </a:p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p(t) = p0 + velocity * 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8FD304-C7FE-4603-976A-601B71D70D55}"/>
              </a:ext>
            </a:extLst>
          </p:cNvPr>
          <p:cNvSpPr>
            <a:spLocks noGrp="1"/>
          </p:cNvSpPr>
          <p:nvPr/>
        </p:nvSpPr>
        <p:spPr>
          <a:xfrm>
            <a:off x="9239250" y="2457450"/>
            <a:ext cx="2171700" cy="1085850"/>
          </a:xfrm>
          <a:prstGeom prst="rect">
            <a:avLst/>
          </a:prstGeom>
          <a:solidFill>
            <a:srgbClr val="172930"/>
          </a:solidFill>
          <a:ln w="9525">
            <a:solidFill>
              <a:srgbClr val="EF6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F96175-D52F-441A-B30B-1F1EADE8B2C4}"/>
              </a:ext>
            </a:extLst>
          </p:cNvPr>
          <p:cNvSpPr>
            <a:spLocks noGrp="1"/>
          </p:cNvSpPr>
          <p:nvPr/>
        </p:nvSpPr>
        <p:spPr>
          <a:xfrm>
            <a:off x="9239250" y="2457450"/>
            <a:ext cx="47625" cy="1085850"/>
          </a:xfrm>
          <a:prstGeom prst="rect">
            <a:avLst/>
          </a:prstGeom>
          <a:solidFill>
            <a:srgbClr val="EF6F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6310BE-A5FF-49DD-B16F-FB0392F3F05A}"/>
              </a:ext>
            </a:extLst>
          </p:cNvPr>
          <p:cNvSpPr>
            <a:spLocks noGrp="1"/>
          </p:cNvSpPr>
          <p:nvPr/>
        </p:nvSpPr>
        <p:spPr>
          <a:xfrm>
            <a:off x="9391650" y="2581275"/>
            <a:ext cx="190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Rank by score</a:t>
            </a:r>
          </a:p>
          <a:p>
            <a:pPr algn="l"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min separation + relative speed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F5D821-D6FC-402F-81E4-9D02D4BFC022}"/>
              </a:ext>
            </a:extLst>
          </p:cNvPr>
          <p:cNvSpPr>
            <a:spLocks noGrp="1"/>
          </p:cNvSpPr>
          <p:nvPr/>
        </p:nvSpPr>
        <p:spPr>
          <a:xfrm>
            <a:off x="3009900" y="2990850"/>
            <a:ext cx="62865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9F9879-4E1D-470D-813A-3153CD45D67A}"/>
              </a:ext>
            </a:extLst>
          </p:cNvPr>
          <p:cNvSpPr>
            <a:spLocks noGrp="1"/>
          </p:cNvSpPr>
          <p:nvPr/>
        </p:nvSpPr>
        <p:spPr>
          <a:xfrm>
            <a:off x="3562350" y="28860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CC9CFA-00AB-4F5E-A3B6-5A0FDCB64952}"/>
              </a:ext>
            </a:extLst>
          </p:cNvPr>
          <p:cNvSpPr>
            <a:spLocks noGrp="1"/>
          </p:cNvSpPr>
          <p:nvPr/>
        </p:nvSpPr>
        <p:spPr>
          <a:xfrm>
            <a:off x="5810250" y="2990850"/>
            <a:ext cx="62865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E22F86-A9AE-443C-BB1A-4DEFA34E13FF}"/>
              </a:ext>
            </a:extLst>
          </p:cNvPr>
          <p:cNvSpPr>
            <a:spLocks noGrp="1"/>
          </p:cNvSpPr>
          <p:nvPr/>
        </p:nvSpPr>
        <p:spPr>
          <a:xfrm>
            <a:off x="6362700" y="28860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0EC9B3-5989-4CBD-8221-8DA8B1A68586}"/>
              </a:ext>
            </a:extLst>
          </p:cNvPr>
          <p:cNvSpPr>
            <a:spLocks noGrp="1"/>
          </p:cNvSpPr>
          <p:nvPr/>
        </p:nvSpPr>
        <p:spPr>
          <a:xfrm>
            <a:off x="8610600" y="2990850"/>
            <a:ext cx="628650" cy="19050"/>
          </a:xfrm>
          <a:prstGeom prst="rect">
            <a:avLst/>
          </a:prstGeom>
          <a:solidFill>
            <a:srgbClr val="AAB8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9FB40D-33D5-45F7-96E6-0AC8FD0F4470}"/>
              </a:ext>
            </a:extLst>
          </p:cNvPr>
          <p:cNvSpPr>
            <a:spLocks noGrp="1"/>
          </p:cNvSpPr>
          <p:nvPr/>
        </p:nvSpPr>
        <p:spPr>
          <a:xfrm>
            <a:off x="9163050" y="28860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8B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16F39F-18A2-4159-8D1C-67F2C4CD53F4}"/>
              </a:ext>
            </a:extLst>
          </p:cNvPr>
          <p:cNvSpPr>
            <a:spLocks noGrp="1"/>
          </p:cNvSpPr>
          <p:nvPr/>
        </p:nvSpPr>
        <p:spPr>
          <a:xfrm>
            <a:off x="1181100" y="4362450"/>
            <a:ext cx="4572000" cy="1028700"/>
          </a:xfrm>
          <a:prstGeom prst="rect">
            <a:avLst/>
          </a:prstGeom>
          <a:solidFill>
            <a:srgbClr val="14252D"/>
          </a:solidFill>
          <a:ln w="9525">
            <a:solidFill>
              <a:srgbClr val="405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B10EAE-2073-4211-90A9-C6DAAE490147}"/>
              </a:ext>
            </a:extLst>
          </p:cNvPr>
          <p:cNvSpPr>
            <a:spLocks noGrp="1"/>
          </p:cNvSpPr>
          <p:nvPr/>
        </p:nvSpPr>
        <p:spPr>
          <a:xfrm>
            <a:off x="1466850" y="45910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Risk formula used in code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60637D1-C10B-4B8D-8CD6-4B05CBE915C2}"/>
              </a:ext>
            </a:extLst>
          </p:cNvPr>
          <p:cNvSpPr>
            <a:spLocks noGrp="1"/>
          </p:cNvSpPr>
          <p:nvPr/>
        </p:nvSpPr>
        <p:spPr>
          <a:xfrm>
            <a:off x="1466850" y="49720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score = min(1.0, 1000 / max(min_sep_m, 1) + 0.1 * (relative_velocity_mps / 10000))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207895-16FB-46ED-8B45-B2C3C3341E0F}"/>
              </a:ext>
            </a:extLst>
          </p:cNvPr>
          <p:cNvSpPr>
            <a:spLocks noGrp="1"/>
          </p:cNvSpPr>
          <p:nvPr/>
        </p:nvSpPr>
        <p:spPr>
          <a:xfrm>
            <a:off x="6457950" y="4362450"/>
            <a:ext cx="4572000" cy="1028700"/>
          </a:xfrm>
          <a:prstGeom prst="rect">
            <a:avLst/>
          </a:prstGeom>
          <a:solidFill>
            <a:srgbClr val="14252D"/>
          </a:solidFill>
          <a:ln w="9525">
            <a:solidFill>
              <a:srgbClr val="405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1D5D17-A65F-44E2-ACC9-F8E61FA46CFE}"/>
              </a:ext>
            </a:extLst>
          </p:cNvPr>
          <p:cNvSpPr>
            <a:spLocks noGrp="1"/>
          </p:cNvSpPr>
          <p:nvPr/>
        </p:nvSpPr>
        <p:spPr>
          <a:xfrm>
            <a:off x="6743700" y="45910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F6C15B"/>
                </a:solidFill>
                <a:latin typeface="Aptos"/>
                <a:ea typeface="Aptos"/>
                <a:cs typeface="Aptos"/>
              </a:rPr>
              <a:t>T</a:t>
            </a:r>
            <a:r>
              <a:rPr sz="1200" b="1" dirty="0">
                <a:solidFill>
                  <a:srgbClr val="F6C15B"/>
                </a:solidFill>
                <a:latin typeface="Aptos"/>
                <a:ea typeface="Aptos"/>
                <a:cs typeface="Aptos"/>
              </a:rPr>
              <a:t>est </a:t>
            </a:r>
            <a:r>
              <a:rPr lang="en-US" sz="1200" b="1" dirty="0">
                <a:solidFill>
                  <a:srgbClr val="F6C15B"/>
                </a:solidFill>
                <a:latin typeface="Aptos"/>
                <a:ea typeface="Aptos"/>
                <a:cs typeface="Aptos"/>
              </a:rPr>
              <a:t>E</a:t>
            </a:r>
            <a:r>
              <a:rPr sz="1200" b="1" dirty="0">
                <a:solidFill>
                  <a:srgbClr val="F6C15B"/>
                </a:solidFill>
                <a:latin typeface="Aptos"/>
                <a:ea typeface="Aptos"/>
                <a:cs typeface="Aptos"/>
              </a:rPr>
              <a:t>xample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FBA3F7-8927-45F4-A409-4CEE7F79B0F4}"/>
              </a:ext>
            </a:extLst>
          </p:cNvPr>
          <p:cNvSpPr>
            <a:spLocks noGrp="1"/>
          </p:cNvSpPr>
          <p:nvPr/>
        </p:nvSpPr>
        <p:spPr>
          <a:xfrm>
            <a:off x="6743700" y="4933950"/>
            <a:ext cx="3714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A debris object starting 100 m ahead and closing at 2 m/s reaches TCA at 50 seconds with 0 m separation.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06E3ED-ADDE-4E72-9AAF-A8CD414F73D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6</a:t>
            </a:r>
            <a:endParaRPr sz="900" b="0" dirty="0">
              <a:solidFill>
                <a:srgbClr val="AAB8B6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576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80FC537-8657-4555-ABE9-9F09B668AA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146AE-2931-4D47-A710-ADAA55AB139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35D04-CB08-43D7-8062-0A846B3EE2C6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D3E44B-7817-4D43-AA29-898CABD38481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E2A218-CD8C-483B-8F27-9E61E1760B00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FC163B-8371-49A1-9B70-0F6B7A7037D2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B6AD71-C759-417A-ACBB-C5DC64DEE03F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E28903-CA4B-4B76-BE2F-643070D1E81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62955-D781-4111-A23C-0CDF5D3250F9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199A7-911A-48BF-8A7F-EE6781F5866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3B524C-BA8E-4301-9A07-E36202B0EE0B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58E9E9-2981-40BA-AB52-43711404DB1A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8B553-DF32-4710-BA56-A00ED2AD19ED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0B7FDB-7BE1-46AA-9EDF-0878A0115CD2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AD0BAD-F6B2-4F29-8EA6-32760EA66241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7EF829-83EB-473D-AF7B-1F6D99D81A7F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B7F64C-F7FB-456E-BC2F-D6D60DA40A96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E91594-5396-47B3-9981-89AC8CEDCCE3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7-marker">
            <a:extLst>
              <a:ext uri="{FF2B5EF4-FFF2-40B4-BE49-F238E27FC236}">
                <a16:creationId xmlns:a16="http://schemas.microsoft.com/office/drawing/2014/main" id="{E90BA5C5-EE84-480A-AB29-CBDF9F0C1EBF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7-label">
            <a:extLst>
              <a:ext uri="{FF2B5EF4-FFF2-40B4-BE49-F238E27FC236}">
                <a16:creationId xmlns:a16="http://schemas.microsoft.com/office/drawing/2014/main" id="{2B0FBA2F-3FE7-4B24-B548-041CD9689030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DASHBOARD OUTPUTS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84096A-78B7-4086-9EC6-4DCD807B088A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Five Output Results from Dashboard</a:t>
            </a:r>
            <a:endParaRPr sz="285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2B1505-2E68-40BE-899C-375CD6298F6E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514600" cy="1390650"/>
          </a:xfrm>
          <a:prstGeom prst="rect">
            <a:avLst/>
          </a:prstGeom>
          <a:solidFill>
            <a:srgbClr val="172930"/>
          </a:solidFill>
          <a:ln w="9525">
            <a:solidFill>
              <a:srgbClr val="7BD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3A26F1-4A4B-48D2-8BDF-57D63FEB0F3D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Ranked alerts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56C574-4CEF-4681-819A-B79ABC9E6BCD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Sortable rows by rank, risk, separation, relative velocity, or TCA.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F7AD5D-DFA2-4BBE-BE5D-6C53AEBD176E}"/>
              </a:ext>
            </a:extLst>
          </p:cNvPr>
          <p:cNvSpPr>
            <a:spLocks noGrp="1"/>
          </p:cNvSpPr>
          <p:nvPr/>
        </p:nvSpPr>
        <p:spPr>
          <a:xfrm>
            <a:off x="4838700" y="2228850"/>
            <a:ext cx="2514600" cy="1390650"/>
          </a:xfrm>
          <a:prstGeom prst="rect">
            <a:avLst/>
          </a:prstGeom>
          <a:solidFill>
            <a:srgbClr val="172930"/>
          </a:solidFill>
          <a:ln w="9525">
            <a:solidFill>
              <a:srgbClr val="F6C1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04ABDF-F8DD-4CA9-B710-F636255449D7}"/>
              </a:ext>
            </a:extLst>
          </p:cNvPr>
          <p:cNvSpPr>
            <a:spLocks noGrp="1"/>
          </p:cNvSpPr>
          <p:nvPr/>
        </p:nvSpPr>
        <p:spPr>
          <a:xfrm>
            <a:off x="5029200" y="24384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6C15B"/>
                </a:solidFill>
                <a:latin typeface="Aptos"/>
                <a:ea typeface="Aptos"/>
                <a:cs typeface="Aptos"/>
              </a:rPr>
              <a:t>Close-approach timeline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4AC9C3-4968-4FC6-B21F-0230B8F0F741}"/>
              </a:ext>
            </a:extLst>
          </p:cNvPr>
          <p:cNvSpPr>
            <a:spLocks noGrp="1"/>
          </p:cNvSpPr>
          <p:nvPr/>
        </p:nvSpPr>
        <p:spPr>
          <a:xfrm>
            <a:off x="5029200" y="2857500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F5F1E8"/>
                </a:solidFill>
                <a:latin typeface="Aptos"/>
                <a:ea typeface="Aptos"/>
                <a:cs typeface="Aptos"/>
              </a:rPr>
              <a:t>Chronological scan of predicted TCAs and severity.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5429F9-B4C1-418E-8EAF-2EDA1B7C0249}"/>
              </a:ext>
            </a:extLst>
          </p:cNvPr>
          <p:cNvSpPr>
            <a:spLocks noGrp="1"/>
          </p:cNvSpPr>
          <p:nvPr/>
        </p:nvSpPr>
        <p:spPr>
          <a:xfrm>
            <a:off x="8801100" y="2228850"/>
            <a:ext cx="2514600" cy="1390650"/>
          </a:xfrm>
          <a:prstGeom prst="rect">
            <a:avLst/>
          </a:prstGeom>
          <a:solidFill>
            <a:srgbClr val="172930"/>
          </a:solidFill>
          <a:ln w="9525">
            <a:solidFill>
              <a:srgbClr val="6A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8A35F3-64E5-43A0-850C-9BA20ED58B09}"/>
              </a:ext>
            </a:extLst>
          </p:cNvPr>
          <p:cNvSpPr>
            <a:spLocks noGrp="1"/>
          </p:cNvSpPr>
          <p:nvPr/>
        </p:nvSpPr>
        <p:spPr>
          <a:xfrm>
            <a:off x="8991600" y="243840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AA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AA6FF"/>
                </a:solidFill>
                <a:latin typeface="Aptos"/>
                <a:ea typeface="Aptos"/>
                <a:cs typeface="Aptos"/>
              </a:rPr>
              <a:t>Distance plots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F29976-0BFC-4895-B6E7-ABE0E5E47220}"/>
              </a:ext>
            </a:extLst>
          </p:cNvPr>
          <p:cNvSpPr>
            <a:spLocks noGrp="1"/>
          </p:cNvSpPr>
          <p:nvPr/>
        </p:nvSpPr>
        <p:spPr>
          <a:xfrm>
            <a:off x="8991600" y="2857500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Sampled separation over time for the top ranked objects.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2E07BD-1161-4ADD-85F3-8985618F4A6C}"/>
              </a:ext>
            </a:extLst>
          </p:cNvPr>
          <p:cNvSpPr>
            <a:spLocks noGrp="1"/>
          </p:cNvSpPr>
          <p:nvPr/>
        </p:nvSpPr>
        <p:spPr>
          <a:xfrm>
            <a:off x="2343150" y="4267200"/>
            <a:ext cx="2514600" cy="1390650"/>
          </a:xfrm>
          <a:prstGeom prst="rect">
            <a:avLst/>
          </a:prstGeom>
          <a:solidFill>
            <a:srgbClr val="172930"/>
          </a:solidFill>
          <a:ln w="9525">
            <a:solidFill>
              <a:srgbClr val="EF6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D5FA93-8D95-464B-82E2-5E4AA9637E6D}"/>
              </a:ext>
            </a:extLst>
          </p:cNvPr>
          <p:cNvSpPr>
            <a:spLocks noGrp="1"/>
          </p:cNvSpPr>
          <p:nvPr/>
        </p:nvSpPr>
        <p:spPr>
          <a:xfrm>
            <a:off x="2533650" y="447675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F6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6F6C"/>
                </a:solidFill>
                <a:latin typeface="Aptos"/>
                <a:ea typeface="Aptos"/>
                <a:cs typeface="Aptos"/>
              </a:rPr>
              <a:t>XY encounter geometry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54D982-53B7-40ED-AA94-62CFAE3A6294}"/>
              </a:ext>
            </a:extLst>
          </p:cNvPr>
          <p:cNvSpPr>
            <a:spLocks noGrp="1"/>
          </p:cNvSpPr>
          <p:nvPr/>
        </p:nvSpPr>
        <p:spPr>
          <a:xfrm>
            <a:off x="2533650" y="4895850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Spacecraft/debris positions at closest approach.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B4289D-6858-44C5-8933-CDE1B8313F22}"/>
              </a:ext>
            </a:extLst>
          </p:cNvPr>
          <p:cNvSpPr>
            <a:spLocks noGrp="1"/>
          </p:cNvSpPr>
          <p:nvPr/>
        </p:nvSpPr>
        <p:spPr>
          <a:xfrm>
            <a:off x="6305550" y="4267200"/>
            <a:ext cx="2514600" cy="1390650"/>
          </a:xfrm>
          <a:prstGeom prst="rect">
            <a:avLst/>
          </a:prstGeom>
          <a:solidFill>
            <a:srgbClr val="172930"/>
          </a:solidFill>
          <a:ln w="9525">
            <a:solidFill>
              <a:srgbClr val="7BD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EF59FC-15A8-4357-94C2-B0EC3F0343E8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CSV export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735D3E-E757-4B45-972B-61A592E57D1C}"/>
              </a:ext>
            </a:extLst>
          </p:cNvPr>
          <p:cNvSpPr>
            <a:spLocks noGrp="1"/>
          </p:cNvSpPr>
          <p:nvPr/>
        </p:nvSpPr>
        <p:spPr>
          <a:xfrm>
            <a:off x="6496050" y="4895850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Reusable ranked results table for reports or follow-up analysis.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6F76D63-B5ED-4729-8B51-0B93702FA5E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7</a:t>
            </a:r>
            <a:endParaRPr sz="900" b="0" dirty="0">
              <a:solidFill>
                <a:srgbClr val="AAB8B6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1976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B361303A-FB98-4A53-B911-AF4CB50F5C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8CF8BD-0E02-48E1-A938-C9044605F3B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A4CBA2-D197-4CF4-8DDF-DF03662B9AC6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F02E2A-A611-4FE1-A1C4-C9295D1236B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1E15D-178E-40C1-B981-F9BC65B1DD4F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07DD07-49F7-4F6E-9DF9-7837EEE01DCA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4FC6E-991A-42B6-94CB-8505002D55D6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FB9486-25DB-4184-822B-1378300E60B7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A8DF29-EC9F-4DC0-8A99-CE71D1C079E2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A4EA20-25ED-494D-B57E-7908D67B6A3E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335942-E066-40A1-8B39-51CF7F6C4EA6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07F7B5-0D49-4B43-86A3-30DC470B459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9EBFB4-2E11-447D-9571-A4AD85149144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DA0804-0B82-49AE-A04B-37827B2E2318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E6DB55-2BE4-42CF-89D3-4B877C7E0C8F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FFE03-AE61-464C-9761-FA7AFCDF15B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9E7E04-7436-455A-89EB-5B1415DEB0BC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727C8-2E2A-4FB2-8F8A-E65A20F33C05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8-marker">
            <a:extLst>
              <a:ext uri="{FF2B5EF4-FFF2-40B4-BE49-F238E27FC236}">
                <a16:creationId xmlns:a16="http://schemas.microsoft.com/office/drawing/2014/main" id="{1E40DB2C-B55A-4478-BD55-3CABD5BF002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8-label">
            <a:extLst>
              <a:ext uri="{FF2B5EF4-FFF2-40B4-BE49-F238E27FC236}">
                <a16:creationId xmlns:a16="http://schemas.microsoft.com/office/drawing/2014/main" id="{300E3996-515E-4A89-B34E-84C4A9828F80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7BDCB5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5D1EB9-09DE-4C70-964E-6C7AB01B1975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95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Acceptance Test Cases </a:t>
            </a:r>
            <a:endParaRPr sz="285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788391-D5C9-4DB1-AF74-AB18A18380C5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3143250" cy="419100"/>
          </a:xfrm>
          <a:prstGeom prst="rect">
            <a:avLst/>
          </a:prstGeom>
          <a:solidFill>
            <a:srgbClr val="20313A"/>
          </a:solidFill>
          <a:ln w="9525">
            <a:solidFill>
              <a:srgbClr val="405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DBE136-2646-43AD-A7BB-B0698FB4366F}"/>
              </a:ext>
            </a:extLst>
          </p:cNvPr>
          <p:cNvSpPr>
            <a:spLocks noGrp="1"/>
          </p:cNvSpPr>
          <p:nvPr/>
        </p:nvSpPr>
        <p:spPr>
          <a:xfrm>
            <a:off x="952500" y="2124075"/>
            <a:ext cx="2876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7BDCB5"/>
                </a:solidFill>
                <a:latin typeface="Aptos"/>
                <a:ea typeface="Aptos"/>
                <a:cs typeface="Aptos"/>
              </a:rPr>
              <a:t>Test Case</a:t>
            </a:r>
            <a:endParaRPr sz="975" b="1" dirty="0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A280AA-4EE4-406B-8EFF-92B653724796}"/>
              </a:ext>
            </a:extLst>
          </p:cNvPr>
          <p:cNvSpPr>
            <a:spLocks noGrp="1"/>
          </p:cNvSpPr>
          <p:nvPr/>
        </p:nvSpPr>
        <p:spPr>
          <a:xfrm>
            <a:off x="3962400" y="2000250"/>
            <a:ext cx="4095750" cy="419100"/>
          </a:xfrm>
          <a:prstGeom prst="rect">
            <a:avLst/>
          </a:prstGeom>
          <a:solidFill>
            <a:srgbClr val="20313A"/>
          </a:solidFill>
          <a:ln w="9525">
            <a:solidFill>
              <a:srgbClr val="405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FDCF2A-8D65-4752-BAF6-553AC195902C}"/>
              </a:ext>
            </a:extLst>
          </p:cNvPr>
          <p:cNvSpPr>
            <a:spLocks noGrp="1"/>
          </p:cNvSpPr>
          <p:nvPr/>
        </p:nvSpPr>
        <p:spPr>
          <a:xfrm>
            <a:off x="4095750" y="2124075"/>
            <a:ext cx="3829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Acceptance condition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C5BE18-A17F-44C8-A27C-4E1540C5E23F}"/>
              </a:ext>
            </a:extLst>
          </p:cNvPr>
          <p:cNvSpPr>
            <a:spLocks noGrp="1"/>
          </p:cNvSpPr>
          <p:nvPr/>
        </p:nvSpPr>
        <p:spPr>
          <a:xfrm>
            <a:off x="8058150" y="2000250"/>
            <a:ext cx="2857500" cy="419100"/>
          </a:xfrm>
          <a:prstGeom prst="rect">
            <a:avLst/>
          </a:prstGeom>
          <a:solidFill>
            <a:srgbClr val="20313A"/>
          </a:solidFill>
          <a:ln w="9525">
            <a:solidFill>
              <a:srgbClr val="405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74C73A-14A8-4EE2-B75E-D3151D4B1EED}"/>
              </a:ext>
            </a:extLst>
          </p:cNvPr>
          <p:cNvSpPr>
            <a:spLocks noGrp="1"/>
          </p:cNvSpPr>
          <p:nvPr/>
        </p:nvSpPr>
        <p:spPr>
          <a:xfrm>
            <a:off x="8191500" y="2124075"/>
            <a:ext cx="2590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DCB5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53E823-D45D-4445-9FDD-31A8FE788CF6}"/>
              </a:ext>
            </a:extLst>
          </p:cNvPr>
          <p:cNvSpPr>
            <a:spLocks noGrp="1"/>
          </p:cNvSpPr>
          <p:nvPr/>
        </p:nvSpPr>
        <p:spPr>
          <a:xfrm>
            <a:off x="819150" y="2419350"/>
            <a:ext cx="314325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A5E516-4464-42E9-B260-55E7759D1C75}"/>
              </a:ext>
            </a:extLst>
          </p:cNvPr>
          <p:cNvSpPr>
            <a:spLocks noGrp="1"/>
          </p:cNvSpPr>
          <p:nvPr/>
        </p:nvSpPr>
        <p:spPr>
          <a:xfrm>
            <a:off x="952500" y="2533650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Load debris catalog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E72EF-3BA9-435A-90C3-DC0A831D8164}"/>
              </a:ext>
            </a:extLst>
          </p:cNvPr>
          <p:cNvSpPr>
            <a:spLocks noGrp="1"/>
          </p:cNvSpPr>
          <p:nvPr/>
        </p:nvSpPr>
        <p:spPr>
          <a:xfrm>
            <a:off x="3962400" y="2419350"/>
            <a:ext cx="409575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3525BD-E435-447E-A581-13884BC141FD}"/>
              </a:ext>
            </a:extLst>
          </p:cNvPr>
          <p:cNvSpPr>
            <a:spLocks noGrp="1"/>
          </p:cNvSpPr>
          <p:nvPr/>
        </p:nvSpPr>
        <p:spPr>
          <a:xfrm>
            <a:off x="4095750" y="253365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Given a valid CSV with id/x/y/z/vx/vy/vz, when loaded, then object count and IDs are preserved.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6E3EEA-98D3-439D-80FC-67E0AD6D2B2C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5750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0A236D-C1F5-46BF-8DE9-956E22F62D63}"/>
              </a:ext>
            </a:extLst>
          </p:cNvPr>
          <p:cNvSpPr>
            <a:spLocks noGrp="1"/>
          </p:cNvSpPr>
          <p:nvPr/>
        </p:nvSpPr>
        <p:spPr>
          <a:xfrm>
            <a:off x="8191500" y="2533650"/>
            <a:ext cx="2590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C15B"/>
                </a:solidFill>
                <a:latin typeface="Aptos"/>
                <a:ea typeface="Aptos"/>
                <a:cs typeface="Aptos"/>
              </a:rPr>
              <a:t>test_catalog_loading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BB07BC-A469-426C-93EC-B8D67D19A85C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3143250" cy="628650"/>
          </a:xfrm>
          <a:prstGeom prst="rect">
            <a:avLst/>
          </a:prstGeom>
          <a:solidFill>
            <a:srgbClr val="13242B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872816-72CC-4DA8-9863-CB5D0A093182}"/>
              </a:ext>
            </a:extLst>
          </p:cNvPr>
          <p:cNvSpPr>
            <a:spLocks noGrp="1"/>
          </p:cNvSpPr>
          <p:nvPr/>
        </p:nvSpPr>
        <p:spPr>
          <a:xfrm>
            <a:off x="952500" y="3162300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Reject bad catalog 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BA4CBF-061F-4E16-B6DD-96317623E3CD}"/>
              </a:ext>
            </a:extLst>
          </p:cNvPr>
          <p:cNvSpPr>
            <a:spLocks noGrp="1"/>
          </p:cNvSpPr>
          <p:nvPr/>
        </p:nvSpPr>
        <p:spPr>
          <a:xfrm>
            <a:off x="3962400" y="3048000"/>
            <a:ext cx="4095750" cy="628650"/>
          </a:xfrm>
          <a:prstGeom prst="rect">
            <a:avLst/>
          </a:prstGeom>
          <a:solidFill>
            <a:srgbClr val="13242B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20CDEB-C9F2-4E4F-A719-CE5062898E94}"/>
              </a:ext>
            </a:extLst>
          </p:cNvPr>
          <p:cNvSpPr>
            <a:spLocks noGrp="1"/>
          </p:cNvSpPr>
          <p:nvPr/>
        </p:nvSpPr>
        <p:spPr>
          <a:xfrm>
            <a:off x="4095750" y="316230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Given missing columns, non-numeric values, duplicates, or empty catalogs, then validation raises clear exceptions.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415A3A-ACD3-48A1-8644-BF1C3E5060C8}"/>
              </a:ext>
            </a:extLst>
          </p:cNvPr>
          <p:cNvSpPr>
            <a:spLocks noGrp="1"/>
          </p:cNvSpPr>
          <p:nvPr/>
        </p:nvSpPr>
        <p:spPr>
          <a:xfrm>
            <a:off x="8058150" y="3048000"/>
            <a:ext cx="2857500" cy="628650"/>
          </a:xfrm>
          <a:prstGeom prst="rect">
            <a:avLst/>
          </a:prstGeom>
          <a:solidFill>
            <a:srgbClr val="13242B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CCFA96-4C41-43B4-9788-CABBE8F464BF}"/>
              </a:ext>
            </a:extLst>
          </p:cNvPr>
          <p:cNvSpPr>
            <a:spLocks noGrp="1"/>
          </p:cNvSpPr>
          <p:nvPr/>
        </p:nvSpPr>
        <p:spPr>
          <a:xfrm>
            <a:off x="8191500" y="3162300"/>
            <a:ext cx="2590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C15B"/>
                </a:solidFill>
                <a:latin typeface="Aptos"/>
                <a:ea typeface="Aptos"/>
                <a:cs typeface="Aptos"/>
              </a:rPr>
              <a:t>test_catalog_loading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6DD781-5AA9-48B1-80F9-737193626259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314325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D87103-3881-4DEE-8D29-2B511755174F}"/>
              </a:ext>
            </a:extLst>
          </p:cNvPr>
          <p:cNvSpPr>
            <a:spLocks noGrp="1"/>
          </p:cNvSpPr>
          <p:nvPr/>
        </p:nvSpPr>
        <p:spPr>
          <a:xfrm>
            <a:off x="952500" y="3790950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Validate spacecraft inputs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A69303-AB00-462B-9C19-50C906C3008F}"/>
              </a:ext>
            </a:extLst>
          </p:cNvPr>
          <p:cNvSpPr>
            <a:spLocks noGrp="1"/>
          </p:cNvSpPr>
          <p:nvPr/>
        </p:nvSpPr>
        <p:spPr>
          <a:xfrm>
            <a:off x="3962400" y="3676650"/>
            <a:ext cx="409575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C5E91B3-CC0F-469E-9F6A-AE8B15ED47BD}"/>
              </a:ext>
            </a:extLst>
          </p:cNvPr>
          <p:cNvSpPr>
            <a:spLocks noGrp="1"/>
          </p:cNvSpPr>
          <p:nvPr/>
        </p:nvSpPr>
        <p:spPr>
          <a:xfrm>
            <a:off x="4095750" y="379095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Given finite numeric vectors and positive safety radius, state is set; invalid values preserve prior state or fail.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474D73-2475-44B1-9863-2536AD3E9F1C}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285750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4BFDC8-97D7-432A-A55C-4458793FB8D7}"/>
              </a:ext>
            </a:extLst>
          </p:cNvPr>
          <p:cNvSpPr>
            <a:spLocks noGrp="1"/>
          </p:cNvSpPr>
          <p:nvPr/>
        </p:nvSpPr>
        <p:spPr>
          <a:xfrm>
            <a:off x="8191500" y="3790950"/>
            <a:ext cx="2590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C15B"/>
                </a:solidFill>
                <a:latin typeface="Aptos"/>
                <a:ea typeface="Aptos"/>
                <a:cs typeface="Aptos"/>
              </a:rPr>
              <a:t>test_spacecraft_parameters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D2E362-970C-41A0-A11B-DE99AF71F6A5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3143250" cy="628650"/>
          </a:xfrm>
          <a:prstGeom prst="rect">
            <a:avLst/>
          </a:prstGeom>
          <a:solidFill>
            <a:srgbClr val="13242B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F813F0-321E-4894-922C-917ED4DDD7BA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Compute collision metrics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3C6053-925B-4DD8-9CC0-75E28E3BCCBB}"/>
              </a:ext>
            </a:extLst>
          </p:cNvPr>
          <p:cNvSpPr>
            <a:spLocks noGrp="1"/>
          </p:cNvSpPr>
          <p:nvPr/>
        </p:nvSpPr>
        <p:spPr>
          <a:xfrm>
            <a:off x="3962400" y="4305300"/>
            <a:ext cx="4095750" cy="628650"/>
          </a:xfrm>
          <a:prstGeom prst="rect">
            <a:avLst/>
          </a:prstGeom>
          <a:solidFill>
            <a:srgbClr val="13242B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C81E87-05DA-4464-945D-B3703523ECD9}"/>
              </a:ext>
            </a:extLst>
          </p:cNvPr>
          <p:cNvSpPr>
            <a:spLocks noGrp="1"/>
          </p:cNvSpPr>
          <p:nvPr/>
        </p:nvSpPr>
        <p:spPr>
          <a:xfrm>
            <a:off x="4095750" y="441960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Given known relative motion, then TCA, minimum separation, and relative velocity match expected values.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1144A8-F376-43BB-AE87-FD34957C6A95}"/>
              </a:ext>
            </a:extLst>
          </p:cNvPr>
          <p:cNvSpPr>
            <a:spLocks noGrp="1"/>
          </p:cNvSpPr>
          <p:nvPr/>
        </p:nvSpPr>
        <p:spPr>
          <a:xfrm>
            <a:off x="8058150" y="4305300"/>
            <a:ext cx="2857500" cy="628650"/>
          </a:xfrm>
          <a:prstGeom prst="rect">
            <a:avLst/>
          </a:prstGeom>
          <a:solidFill>
            <a:srgbClr val="13242B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EE3009-E4FA-4898-A85E-FE0A6F5AA47B}"/>
              </a:ext>
            </a:extLst>
          </p:cNvPr>
          <p:cNvSpPr>
            <a:spLocks noGrp="1"/>
          </p:cNvSpPr>
          <p:nvPr/>
        </p:nvSpPr>
        <p:spPr>
          <a:xfrm>
            <a:off x="8191500" y="4419600"/>
            <a:ext cx="2590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C15B"/>
                </a:solidFill>
                <a:latin typeface="Aptos"/>
                <a:ea typeface="Aptos"/>
                <a:cs typeface="Aptos"/>
              </a:rPr>
              <a:t>test_collision_analysis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4D2BA1-013F-422F-9320-6C3B60281333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314325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0D9226-1CAF-4C79-9B4C-557E95065F66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Rank and visualize results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64D4DD9-8918-4E09-AF36-BCB3DD7CBBC7}"/>
              </a:ext>
            </a:extLst>
          </p:cNvPr>
          <p:cNvSpPr>
            <a:spLocks noGrp="1"/>
          </p:cNvSpPr>
          <p:nvPr/>
        </p:nvSpPr>
        <p:spPr>
          <a:xfrm>
            <a:off x="3962400" y="4933950"/>
            <a:ext cx="409575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4B4E08A-3248-44B9-954C-DCC90B99B346}"/>
              </a:ext>
            </a:extLst>
          </p:cNvPr>
          <p:cNvSpPr>
            <a:spLocks noGrp="1"/>
          </p:cNvSpPr>
          <p:nvPr/>
        </p:nvSpPr>
        <p:spPr>
          <a:xfrm>
            <a:off x="4095750" y="5048250"/>
            <a:ext cx="3829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Given multiple objects, then risk order, ranks, sampled distance series, and dashboard refreshes are produced.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61EC31-4BCC-4548-89B3-FE8594D43DCB}"/>
              </a:ext>
            </a:extLst>
          </p:cNvPr>
          <p:cNvSpPr>
            <a:spLocks noGrp="1"/>
          </p:cNvSpPr>
          <p:nvPr/>
        </p:nvSpPr>
        <p:spPr>
          <a:xfrm>
            <a:off x="8058150" y="4933950"/>
            <a:ext cx="2857500" cy="628650"/>
          </a:xfrm>
          <a:prstGeom prst="rect">
            <a:avLst/>
          </a:prstGeom>
          <a:solidFill>
            <a:srgbClr val="172930"/>
          </a:solidFill>
          <a:ln w="9525">
            <a:solidFill>
              <a:srgbClr val="304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028CC3-5EE6-47B9-AF35-A065324B6EA0}"/>
              </a:ext>
            </a:extLst>
          </p:cNvPr>
          <p:cNvSpPr>
            <a:spLocks noGrp="1"/>
          </p:cNvSpPr>
          <p:nvPr/>
        </p:nvSpPr>
        <p:spPr>
          <a:xfrm>
            <a:off x="8191500" y="5048250"/>
            <a:ext cx="2590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C1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C15B"/>
                </a:solidFill>
                <a:latin typeface="Aptos"/>
                <a:ea typeface="Aptos"/>
                <a:cs typeface="Aptos"/>
              </a:rPr>
              <a:t>test_collision_analysis + test_visualization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DA4590B-31D9-44F8-B86D-51BA39D1FEF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8</a:t>
            </a:r>
            <a:endParaRPr sz="900" b="0" dirty="0">
              <a:solidFill>
                <a:srgbClr val="AAB8B6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849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4DA66331-00C6-45CE-8405-C1F2E33376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0635E2-2457-48D4-887C-4C889C2BD883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2CAD1-9353-405A-984E-DEBBC4320E59}"/>
              </a:ext>
            </a:extLst>
          </p:cNvPr>
          <p:cNvSpPr>
            <a:spLocks noGrp="1"/>
          </p:cNvSpPr>
          <p:nvPr/>
        </p:nvSpPr>
        <p:spPr>
          <a:xfrm>
            <a:off x="1905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E15D5-F25E-490B-84C7-BBEC3EF484BD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761A7-E3FC-43E5-87B8-E81EF1EDB18D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925EE-CCC0-4E21-834F-B9C30B9916BF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88BF9-E657-4A3B-B0BC-9A977D36617E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9D00E-8F12-4061-97C3-49F295E08C21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CC1123-6806-4E3F-B429-F68E9DB1B7C1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9E2DA-9C57-4B22-B665-E3E9B10435B8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CC2E60-8773-4B1B-8268-592EA4F12E94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9525" cy="6858000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E49F0-A75D-4120-A3D9-92620FB60988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DF32C7-C90B-4915-B67C-F352340D249B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7DB695-EB4C-4174-B5A2-9F6E3C260397}"/>
              </a:ext>
            </a:extLst>
          </p:cNvPr>
          <p:cNvSpPr>
            <a:spLocks noGrp="1"/>
          </p:cNvSpPr>
          <p:nvPr/>
        </p:nvSpPr>
        <p:spPr>
          <a:xfrm>
            <a:off x="0" y="266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2AE967-DFE1-4D78-99DE-7BA5183A7B30}"/>
              </a:ext>
            </a:extLst>
          </p:cNvPr>
          <p:cNvSpPr>
            <a:spLocks noGrp="1"/>
          </p:cNvSpPr>
          <p:nvPr/>
        </p:nvSpPr>
        <p:spPr>
          <a:xfrm>
            <a:off x="0" y="3619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1C6B0F-4771-4C50-8CAC-31073591E1E1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9FE0F-626B-4651-A61C-B1AFC4FA740A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2C633C-0A81-45DD-BE37-3DD102EF904B}"/>
              </a:ext>
            </a:extLst>
          </p:cNvPr>
          <p:cNvSpPr>
            <a:spLocks noGrp="1"/>
          </p:cNvSpPr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172A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kicker-9-marker">
            <a:extLst>
              <a:ext uri="{FF2B5EF4-FFF2-40B4-BE49-F238E27FC236}">
                <a16:creationId xmlns:a16="http://schemas.microsoft.com/office/drawing/2014/main" id="{F63B40DC-79DB-4481-8A8F-68F7818C57A1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23850" cy="28575"/>
          </a:xfrm>
          <a:prstGeom prst="rect">
            <a:avLst/>
          </a:prstGeom>
          <a:solidFill>
            <a:srgbClr val="7BDC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kicker-9-label">
            <a:extLst>
              <a:ext uri="{FF2B5EF4-FFF2-40B4-BE49-F238E27FC236}">
                <a16:creationId xmlns:a16="http://schemas.microsoft.com/office/drawing/2014/main" id="{5C79709D-4E92-4619-94D8-0765BCC50A90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7BDCB5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7BDCB5"/>
                </a:solidFill>
                <a:latin typeface="Aptos"/>
                <a:ea typeface="Aptos"/>
                <a:cs typeface="Aptos"/>
              </a:rPr>
              <a:t>GITHUB</a:t>
            </a:r>
            <a:endParaRPr sz="975" b="1" dirty="0">
              <a:solidFill>
                <a:srgbClr val="7BDCB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F4CC13-A9D0-4417-9365-4B76B58FD2F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95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850" b="1" dirty="0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Network</a:t>
            </a:r>
            <a:endParaRPr sz="2850" b="1" dirty="0">
              <a:solidFill>
                <a:srgbClr val="F5F1E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2CF3DFD-2425-4CE4-86D1-2C9E6A680F6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AB8B6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dirty="0">
                <a:solidFill>
                  <a:srgbClr val="AAB8B6"/>
                </a:solidFill>
                <a:latin typeface="Aptos"/>
                <a:ea typeface="Aptos"/>
                <a:cs typeface="Aptos"/>
              </a:rPr>
              <a:t>9</a:t>
            </a:r>
            <a:endParaRPr sz="900" b="0" dirty="0">
              <a:solidFill>
                <a:srgbClr val="AAB8B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F66D8C-38C5-4DB5-55FB-F6DC1E0DB9DD}"/>
              </a:ext>
            </a:extLst>
          </p:cNvPr>
          <p:cNvSpPr>
            <a:spLocks noGrp="1"/>
          </p:cNvSpPr>
          <p:nvPr/>
        </p:nvSpPr>
        <p:spPr>
          <a:xfrm>
            <a:off x="2676524" y="1384299"/>
            <a:ext cx="5936955" cy="4285070"/>
          </a:xfrm>
          <a:prstGeom prst="rect">
            <a:avLst/>
          </a:prstGeom>
          <a:solidFill>
            <a:srgbClr val="172930"/>
          </a:solidFill>
          <a:ln w="9525">
            <a:solidFill>
              <a:srgbClr val="F6C1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66A30CE-AD23-1B26-1229-B21A97A4B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0" y="1508125"/>
            <a:ext cx="57023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31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634</Words>
  <Application>Microsoft Macintosh PowerPoint</Application>
  <DocSecurity>0</DocSecurity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Mono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Botha, Megan</cp:lastModifiedBy>
  <cp:revision>2</cp:revision>
  <dcterms:created xsi:type="dcterms:W3CDTF">2026-05-12T14:31:24Z</dcterms:created>
  <dcterms:modified xsi:type="dcterms:W3CDTF">2026-05-12T17:46:57Z</dcterms:modified>
</cp:coreProperties>
</file>